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Frank Ruhl Libre"/>
      <p:regular r:id="rId8"/>
      <p:bold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0344AE1-2670-4B20-972C-26E0C4EC3BB8}">
  <a:tblStyle styleId="{50344AE1-2670-4B20-972C-26E0C4EC3BB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D7048B91-C5F6-41E3-9467-2ABCC4E3339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73763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73763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73763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73763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73763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73763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E309FB60-093C-4849-ACE8-8D9AC2989235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font" Target="fonts/FrankRuhlLibre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FrankRuhlLibre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fa88b4048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fa88b4048f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76400" y="1151275"/>
            <a:ext cx="2330400" cy="10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3970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Calibri"/>
              <a:buChar char="●"/>
            </a:pPr>
            <a:r>
              <a:rPr lang="en"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Cardiogenic shock is characterized by decreased cardiac output leading to organ hypoperfusion with an in-hospital mortality of nearly 40%</a:t>
            </a:r>
            <a:r>
              <a:rPr baseline="30000" lang="en"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"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11430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chemeClr val="dk1"/>
              </a:buClr>
              <a:buSzPts val="400"/>
              <a:buFont typeface="Calibri"/>
              <a:buChar char="●"/>
            </a:pPr>
            <a:r>
              <a:rPr lang="en"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Percutaneous left ventricular assist devices such as Impella</a:t>
            </a:r>
            <a:r>
              <a:rPr baseline="30000" lang="en"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Ⓡ </a:t>
            </a:r>
            <a:r>
              <a:rPr lang="en"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implanted device augments circulatory support</a:t>
            </a:r>
            <a:r>
              <a:rPr baseline="30000" lang="en"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11430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chemeClr val="dk1"/>
              </a:buClr>
              <a:buSzPts val="400"/>
              <a:buFont typeface="Calibri"/>
              <a:buChar char="●"/>
            </a:pPr>
            <a:r>
              <a:rPr lang="en"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Impella</a:t>
            </a:r>
            <a:r>
              <a:rPr baseline="30000" lang="en"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Ⓡ </a:t>
            </a:r>
            <a:r>
              <a:rPr lang="en"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manufacturer recommends heparinized purge solution in dextrose 5% in water (D5W) with intravenous unfractionated heparin (UFH) systemic anticoagulation</a:t>
            </a:r>
            <a:r>
              <a:rPr baseline="30000" lang="en"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11430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chemeClr val="dk1"/>
              </a:buClr>
              <a:buSzPts val="400"/>
              <a:buFont typeface="Calibri"/>
              <a:buChar char="●"/>
            </a:pPr>
            <a:r>
              <a:rPr lang="en"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shows only 8–52% of 65 hospital medical centers follow manufacturer recommendations</a:t>
            </a:r>
            <a:r>
              <a:rPr baseline="30000" lang="en"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11430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chemeClr val="dk1"/>
              </a:buClr>
              <a:buSzPts val="400"/>
              <a:buFont typeface="Calibri"/>
              <a:buChar char="●"/>
            </a:pPr>
            <a:r>
              <a:rPr lang="en"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Considerable variability in local prescribing practices, cardiogenic shock electronic prescribing orderset developed to standardize purge selection and reduce adverse event risk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6050" lvl="0" marL="11430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chemeClr val="dk1"/>
              </a:buClr>
              <a:buSzPts val="500"/>
              <a:buFont typeface="Calibri"/>
              <a:buChar char="●"/>
            </a:pPr>
            <a:r>
              <a:rPr lang="en"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 thrombin inhibitors such as bivalirudin and sodium bicarbonate 25 mEq in 1000 mL D5W have been used as  alternative purge solutions</a:t>
            </a:r>
            <a:r>
              <a:rPr baseline="30000" lang="en"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5,6</a:t>
            </a:r>
            <a:r>
              <a:rPr lang="en"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11430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chemeClr val="dk1"/>
              </a:buClr>
              <a:buSzPts val="400"/>
              <a:buFont typeface="Calibri"/>
              <a:buChar char="●"/>
            </a:pPr>
            <a:r>
              <a:rPr lang="en"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Preferred purge solution changed to sodium bicarbonate 25 mEq in 1000 mL D5W in new cardiogenic shock orderset to standardize local practice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11430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257800" y="1868138"/>
            <a:ext cx="35313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1100"/>
          </a:p>
        </p:txBody>
      </p:sp>
      <p:sp>
        <p:nvSpPr>
          <p:cNvPr id="56" name="Google Shape;56;p13"/>
          <p:cNvSpPr txBox="1"/>
          <p:nvPr/>
        </p:nvSpPr>
        <p:spPr>
          <a:xfrm>
            <a:off x="7334450" y="1144250"/>
            <a:ext cx="18309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4000" spcFirstLastPara="1" rIns="68575" wrap="square" tIns="34275">
            <a:noAutofit/>
          </a:bodyPr>
          <a:lstStyle/>
          <a:p>
            <a:pPr indent="-150622" lvl="0" marL="11887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Calibri"/>
              <a:buChar char="●"/>
            </a:pPr>
            <a:r>
              <a:rPr lang="en" sz="600">
                <a:latin typeface="Calibri"/>
                <a:ea typeface="Calibri"/>
                <a:cs typeface="Calibri"/>
                <a:sym typeface="Calibri"/>
              </a:rPr>
              <a:t>Results are too minimal to draw a substantial conclusion of the effects of</a:t>
            </a:r>
            <a:r>
              <a:rPr lang="en" sz="600">
                <a:latin typeface="Calibri"/>
                <a:ea typeface="Calibri"/>
                <a:cs typeface="Calibri"/>
                <a:sym typeface="Calibri"/>
              </a:rPr>
              <a:t> purge solutions on thrombi formation</a:t>
            </a:r>
            <a:r>
              <a:rPr lang="en" sz="600">
                <a:latin typeface="Calibri"/>
                <a:ea typeface="Calibri"/>
                <a:cs typeface="Calibri"/>
                <a:sym typeface="Calibri"/>
              </a:rPr>
              <a:t>, do incite further evaluation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  <a:p>
            <a:pPr indent="-150622" lvl="0" marL="11887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Calibri"/>
              <a:buChar char="●"/>
            </a:pPr>
            <a:r>
              <a:rPr lang="en" sz="600">
                <a:latin typeface="Calibri"/>
                <a:ea typeface="Calibri"/>
                <a:cs typeface="Calibri"/>
                <a:sym typeface="Calibri"/>
              </a:rPr>
              <a:t>In previous studies, </a:t>
            </a:r>
            <a:r>
              <a:rPr lang="en" sz="600">
                <a:latin typeface="Calibri"/>
                <a:ea typeface="Calibri"/>
                <a:cs typeface="Calibri"/>
                <a:sym typeface="Calibri"/>
              </a:rPr>
              <a:t>change in purge pressure was  surrogate measure for device complications or device failure</a:t>
            </a:r>
            <a:r>
              <a:rPr baseline="30000" lang="en" sz="600">
                <a:latin typeface="Calibri"/>
                <a:ea typeface="Calibri"/>
                <a:cs typeface="Calibri"/>
                <a:sym typeface="Calibri"/>
              </a:rPr>
              <a:t>4  </a:t>
            </a:r>
            <a:endParaRPr baseline="30000" sz="600">
              <a:latin typeface="Calibri"/>
              <a:ea typeface="Calibri"/>
              <a:cs typeface="Calibri"/>
              <a:sym typeface="Calibri"/>
            </a:endParaRPr>
          </a:p>
          <a:p>
            <a:pPr indent="-150622" lvl="0" marL="11887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Calibri"/>
              <a:buChar char="●"/>
            </a:pPr>
            <a:r>
              <a:rPr lang="en" sz="600"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" sz="600">
                <a:latin typeface="Calibri"/>
                <a:ea typeface="Calibri"/>
                <a:cs typeface="Calibri"/>
                <a:sym typeface="Calibri"/>
              </a:rPr>
              <a:t>urge pressure changes were collected, due to incomplete charting</a:t>
            </a:r>
            <a:r>
              <a:rPr lang="en" sz="6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600">
                <a:latin typeface="Calibri"/>
                <a:ea typeface="Calibri"/>
                <a:cs typeface="Calibri"/>
                <a:sym typeface="Calibri"/>
              </a:rPr>
              <a:t>full conclusion was not able to be completely determined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  <a:p>
            <a:pPr indent="-150622" lvl="0" marL="11887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Calibri"/>
              <a:buChar char="●"/>
            </a:pPr>
            <a:r>
              <a:rPr lang="en" sz="600">
                <a:latin typeface="Calibri"/>
                <a:ea typeface="Calibri"/>
                <a:cs typeface="Calibri"/>
                <a:sym typeface="Calibri"/>
              </a:rPr>
              <a:t>Subjects with increased concentrations of bicarbonate in purge solution had increased rates of device thrombosis and limb ischemia, limited due to small subgroup size (n=11)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  <a:p>
            <a:pPr indent="-150622" lvl="0" marL="118872" rtl="0" algn="l">
              <a:spcBef>
                <a:spcPts val="0"/>
              </a:spcBef>
              <a:spcAft>
                <a:spcPts val="0"/>
              </a:spcAft>
              <a:buSzPts val="500"/>
              <a:buFont typeface="Calibri"/>
              <a:buChar char="●"/>
            </a:pPr>
            <a:r>
              <a:rPr lang="en"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Rates of hemolysis were equal in both heparinized- and bicarbonate-based purge solutions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0622" lvl="0" marL="118872" rtl="0" algn="l">
              <a:spcBef>
                <a:spcPts val="0"/>
              </a:spcBef>
              <a:spcAft>
                <a:spcPts val="0"/>
              </a:spcAft>
              <a:buSzPts val="500"/>
              <a:buFont typeface="Calibri"/>
              <a:buChar char="●"/>
            </a:pPr>
            <a:r>
              <a:rPr lang="en"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Stringent monitoring of signs and symptoms of major bleeding should be utilized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7451900" y="952250"/>
            <a:ext cx="1620600" cy="192000"/>
          </a:xfrm>
          <a:prstGeom prst="roundRect">
            <a:avLst>
              <a:gd fmla="val 16667" name="adj"/>
            </a:avLst>
          </a:prstGeom>
          <a:solidFill>
            <a:srgbClr val="1C4587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FFFFFF"/>
                </a:solidFill>
                <a:latin typeface="Frank Ruhl Libre"/>
                <a:ea typeface="Frank Ruhl Libre"/>
                <a:cs typeface="Frank Ruhl Libre"/>
                <a:sym typeface="Frank Ruhl Libre"/>
              </a:rPr>
              <a:t>Discussion</a:t>
            </a:r>
            <a:endParaRPr sz="1250">
              <a:solidFill>
                <a:srgbClr val="FFFFFF"/>
              </a:solidFill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79225" y="958975"/>
            <a:ext cx="2363700" cy="192300"/>
          </a:xfrm>
          <a:prstGeom prst="roundRect">
            <a:avLst>
              <a:gd fmla="val 16667" name="adj"/>
            </a:avLst>
          </a:prstGeom>
          <a:solidFill>
            <a:srgbClr val="1C4587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lt1"/>
                </a:solidFill>
                <a:latin typeface="Frank Ruhl Libre"/>
                <a:ea typeface="Frank Ruhl Libre"/>
                <a:cs typeface="Frank Ruhl Libre"/>
                <a:sym typeface="Frank Ruhl Libre"/>
              </a:rPr>
              <a:t>Background</a:t>
            </a:r>
            <a:endParaRPr sz="1250">
              <a:solidFill>
                <a:schemeClr val="lt1"/>
              </a:solidFill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93724" y="3597925"/>
            <a:ext cx="2363700" cy="192300"/>
          </a:xfrm>
          <a:prstGeom prst="roundRect">
            <a:avLst>
              <a:gd fmla="val 16667" name="adj"/>
            </a:avLst>
          </a:prstGeom>
          <a:solidFill>
            <a:srgbClr val="1C4587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FFFFFF"/>
                </a:solidFill>
                <a:latin typeface="Frank Ruhl Libre"/>
                <a:ea typeface="Frank Ruhl Libre"/>
                <a:cs typeface="Frank Ruhl Libre"/>
                <a:sym typeface="Frank Ruhl Libre"/>
              </a:rPr>
              <a:t>Methods</a:t>
            </a:r>
            <a:endParaRPr sz="1250">
              <a:solidFill>
                <a:srgbClr val="FFFFFF"/>
              </a:solidFill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7462950" y="2759588"/>
            <a:ext cx="1603800" cy="192000"/>
          </a:xfrm>
          <a:prstGeom prst="roundRect">
            <a:avLst>
              <a:gd fmla="val 16667" name="adj"/>
            </a:avLst>
          </a:prstGeom>
          <a:solidFill>
            <a:srgbClr val="1C4587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FFFFFF"/>
                </a:solidFill>
                <a:latin typeface="Frank Ruhl Libre"/>
                <a:ea typeface="Frank Ruhl Libre"/>
                <a:cs typeface="Frank Ruhl Libre"/>
                <a:sym typeface="Frank Ruhl Libre"/>
              </a:rPr>
              <a:t>Conclusion</a:t>
            </a:r>
            <a:endParaRPr sz="1250">
              <a:solidFill>
                <a:srgbClr val="FFFFFF"/>
              </a:solidFill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2710600" y="952100"/>
            <a:ext cx="4382700" cy="192300"/>
          </a:xfrm>
          <a:prstGeom prst="roundRect">
            <a:avLst>
              <a:gd fmla="val 16667" name="adj"/>
            </a:avLst>
          </a:prstGeom>
          <a:solidFill>
            <a:srgbClr val="1C4587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FFFFFF"/>
                </a:solidFill>
                <a:latin typeface="Frank Ruhl Libre"/>
                <a:ea typeface="Frank Ruhl Libre"/>
                <a:cs typeface="Frank Ruhl Libre"/>
                <a:sym typeface="Frank Ruhl Libre"/>
              </a:rPr>
              <a:t>Results</a:t>
            </a:r>
            <a:endParaRPr sz="1250">
              <a:solidFill>
                <a:srgbClr val="FFFFFF"/>
              </a:solidFill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93725" y="3011225"/>
            <a:ext cx="2363700" cy="192300"/>
          </a:xfrm>
          <a:prstGeom prst="roundRect">
            <a:avLst>
              <a:gd fmla="val 16667" name="adj"/>
            </a:avLst>
          </a:prstGeom>
          <a:solidFill>
            <a:srgbClr val="1C4587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lt1"/>
                </a:solidFill>
                <a:latin typeface="Frank Ruhl Libre"/>
                <a:ea typeface="Frank Ruhl Libre"/>
                <a:cs typeface="Frank Ruhl Libre"/>
                <a:sym typeface="Frank Ruhl Libre"/>
              </a:rPr>
              <a:t>Objective</a:t>
            </a:r>
            <a:endParaRPr sz="1250">
              <a:solidFill>
                <a:schemeClr val="lt1"/>
              </a:solidFill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59225" y="3247725"/>
            <a:ext cx="2398200" cy="26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Calibri"/>
                <a:ea typeface="Calibri"/>
                <a:cs typeface="Calibri"/>
                <a:sym typeface="Calibri"/>
              </a:rPr>
              <a:t>To evaluate previous prescribing patterns of various purge solutions and their potential impact on adverse event rates in cardiogenic shock patients with Impella</a:t>
            </a:r>
            <a:r>
              <a:rPr baseline="30000" lang="en" sz="600">
                <a:latin typeface="Calibri"/>
                <a:ea typeface="Calibri"/>
                <a:cs typeface="Calibri"/>
                <a:sym typeface="Calibri"/>
              </a:rPr>
              <a:t>Ⓡ</a:t>
            </a:r>
            <a:r>
              <a:rPr lang="en" sz="600">
                <a:latin typeface="Calibri"/>
                <a:ea typeface="Calibri"/>
                <a:cs typeface="Calibri"/>
                <a:sym typeface="Calibri"/>
              </a:rPr>
              <a:t> usage.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4" name="Google Shape;64;p13"/>
          <p:cNvGraphicFramePr/>
          <p:nvPr/>
        </p:nvGraphicFramePr>
        <p:xfrm>
          <a:off x="66188" y="3838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{50344AE1-2670-4B20-972C-26E0C4EC3BB8}</a:tableStyleId>
              </a:tblPr>
              <a:tblGrid>
                <a:gridCol w="817700"/>
                <a:gridCol w="1566550"/>
              </a:tblGrid>
              <a:tr h="181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Study Design</a:t>
                      </a:r>
                      <a:endParaRPr b="1" sz="6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Retrospective, observational </a:t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>
                    <a:lnL cap="flat" cmpd="sng" w="9525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Subjects (n=80)</a:t>
                      </a:r>
                      <a:endParaRPr b="1" sz="6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Identified by medication administration records</a:t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>
                    <a:lnL cap="flat" cmpd="sng" w="9525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 Frame</a:t>
                      </a:r>
                      <a:endParaRPr b="1" sz="6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September 1st, 2020 to September 1st, 2022</a:t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>
                    <a:lnL cap="flat" cmpd="sng" w="9525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97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Hospital l</a:t>
                      </a:r>
                      <a:r>
                        <a:rPr b="1" lang="en" sz="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ocation</a:t>
                      </a:r>
                      <a:endParaRPr b="1" sz="6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St. Vincent’s Riverside, Southside, Clay</a:t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>
                    <a:lnL cap="flat" cmpd="sng" w="9525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76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Inclusion Criteria</a:t>
                      </a:r>
                      <a:endParaRPr b="1" sz="6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</a:t>
                      </a:r>
                      <a:r>
                        <a:rPr lang="en" sz="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Impella</a:t>
                      </a:r>
                      <a:r>
                        <a:rPr baseline="30000" lang="en" sz="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Ⓡ</a:t>
                      </a:r>
                      <a:r>
                        <a:rPr lang="en" sz="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recipients </a:t>
                      </a:r>
                      <a:r>
                        <a:rPr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 ≥ 18 years </a:t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>
                    <a:lnL cap="flat" cmpd="sng" w="9525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70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Exclusion Criteria (n=6)</a:t>
                      </a:r>
                      <a:endParaRPr b="1" sz="6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Incomplete medical record data </a:t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>
                    <a:lnL cap="flat" cmpd="sng" w="9525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5" name="Google Shape;65;p13"/>
          <p:cNvSpPr/>
          <p:nvPr/>
        </p:nvSpPr>
        <p:spPr>
          <a:xfrm>
            <a:off x="7451900" y="4387163"/>
            <a:ext cx="1620600" cy="192000"/>
          </a:xfrm>
          <a:prstGeom prst="roundRect">
            <a:avLst>
              <a:gd fmla="val 16667" name="adj"/>
            </a:avLst>
          </a:prstGeom>
          <a:solidFill>
            <a:srgbClr val="1C4587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FFFFFF"/>
                </a:solidFill>
                <a:latin typeface="Frank Ruhl Libre"/>
                <a:ea typeface="Frank Ruhl Libre"/>
                <a:cs typeface="Frank Ruhl Libre"/>
                <a:sym typeface="Frank Ruhl Libre"/>
              </a:rPr>
              <a:t>References</a:t>
            </a:r>
            <a:endParaRPr sz="1250">
              <a:solidFill>
                <a:srgbClr val="FFFFFF"/>
              </a:solidFill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7441050" y="4566925"/>
            <a:ext cx="1647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" sz="5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. BMJ Open. 2019;9(5):e025734. </a:t>
            </a:r>
            <a:r>
              <a:rPr b="1" lang="en" sz="5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5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. Pharmacotherapy. </a:t>
            </a:r>
            <a:endParaRPr sz="5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2021;41(11):932-942. </a:t>
            </a:r>
            <a:r>
              <a:rPr b="1" lang="en" sz="5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3.</a:t>
            </a:r>
            <a:r>
              <a:rPr lang="en" sz="5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 J Thromb Thrombolysis. </a:t>
            </a:r>
            <a:endParaRPr sz="5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2019;48(2):284-291. </a:t>
            </a:r>
            <a:r>
              <a:rPr b="1" lang="en" sz="5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4.</a:t>
            </a:r>
            <a:r>
              <a:rPr lang="en" sz="5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 Circ Heart Fail. 2013;6(1):23-30. </a:t>
            </a:r>
            <a:endParaRPr sz="5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5.</a:t>
            </a:r>
            <a:r>
              <a:rPr lang="en" sz="5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 Heparin-free purge: Bicarbonate-based Purge Solution. </a:t>
            </a:r>
            <a:endParaRPr sz="5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Heparin-Free Purge: Bicarbonate-Based Purge Solution|</a:t>
            </a:r>
            <a:endParaRPr sz="5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HeartRecoverycom. </a:t>
            </a:r>
            <a:r>
              <a:rPr b="1" lang="en" sz="5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6. </a:t>
            </a:r>
            <a:r>
              <a:rPr lang="en" sz="5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Ann Pharmacother. </a:t>
            </a:r>
            <a:endParaRPr sz="5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2022;10600280221124156.</a:t>
            </a:r>
            <a:endParaRPr sz="5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3406800" y="784407"/>
            <a:ext cx="2330400" cy="1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authors have no conflict of interest.</a:t>
            </a:r>
            <a:endParaRPr sz="1300"/>
          </a:p>
        </p:txBody>
      </p:sp>
      <p:sp>
        <p:nvSpPr>
          <p:cNvPr id="68" name="Google Shape;68;p13"/>
          <p:cNvSpPr txBox="1"/>
          <p:nvPr/>
        </p:nvSpPr>
        <p:spPr>
          <a:xfrm>
            <a:off x="1168350" y="600350"/>
            <a:ext cx="68073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Frank Ruhl Libre"/>
                <a:ea typeface="Frank Ruhl Libre"/>
                <a:cs typeface="Frank Ruhl Libre"/>
                <a:sym typeface="Frank Ruhl Libre"/>
              </a:rPr>
              <a:t>Isabel Jacobs, PharmD; Bryan Allen, PharmD, BCCCP, BCIDP; Rochelle Forsyth, PharmD, BCPS</a:t>
            </a:r>
            <a:r>
              <a:rPr lang="en" sz="1100">
                <a:solidFill>
                  <a:srgbClr val="0944A1"/>
                </a:solidFill>
                <a:latin typeface="Frank Ruhl Libre"/>
                <a:ea typeface="Frank Ruhl Libre"/>
                <a:cs typeface="Frank Ruhl Libre"/>
                <a:sym typeface="Frank Ruhl Libre"/>
              </a:rPr>
              <a:t> </a:t>
            </a:r>
            <a:endParaRPr sz="1100">
              <a:solidFill>
                <a:schemeClr val="dk1"/>
              </a:solidFill>
              <a:latin typeface="Frank Ruhl Libre"/>
              <a:ea typeface="Frank Ruhl Libre"/>
              <a:cs typeface="Frank Ruhl Libre"/>
              <a:sym typeface="Frank Ruhl Libre"/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1430575" y="65300"/>
            <a:ext cx="6807300" cy="4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73763"/>
                </a:solidFill>
                <a:latin typeface="Frank Ruhl Libre"/>
                <a:ea typeface="Frank Ruhl Libre"/>
                <a:cs typeface="Frank Ruhl Libre"/>
                <a:sym typeface="Frank Ruhl Libre"/>
              </a:rPr>
              <a:t>Retrospective analysis of purge solutions for left ventricular </a:t>
            </a:r>
            <a:endParaRPr b="1" sz="1700">
              <a:solidFill>
                <a:srgbClr val="073763"/>
              </a:solidFill>
              <a:latin typeface="Frank Ruhl Libre"/>
              <a:ea typeface="Frank Ruhl Libre"/>
              <a:cs typeface="Frank Ruhl Libre"/>
              <a:sym typeface="Frank Ruhl Libre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73763"/>
                </a:solidFill>
                <a:latin typeface="Frank Ruhl Libre"/>
                <a:ea typeface="Frank Ruhl Libre"/>
                <a:cs typeface="Frank Ruhl Libre"/>
                <a:sym typeface="Frank Ruhl Libre"/>
              </a:rPr>
              <a:t>assist devices in patients with cardiogenic shock</a:t>
            </a:r>
            <a:r>
              <a:rPr b="1" lang="en" sz="1800">
                <a:solidFill>
                  <a:srgbClr val="073763"/>
                </a:solidFill>
                <a:latin typeface="Frank Ruhl Libre"/>
                <a:ea typeface="Frank Ruhl Libre"/>
                <a:cs typeface="Frank Ruhl Libre"/>
                <a:sym typeface="Frank Ruhl Libre"/>
              </a:rPr>
              <a:t> </a:t>
            </a:r>
            <a:endParaRPr b="1" sz="1000">
              <a:solidFill>
                <a:srgbClr val="073763"/>
              </a:solidFill>
              <a:latin typeface="Frank Ruhl Libre"/>
              <a:ea typeface="Frank Ruhl Libre"/>
              <a:cs typeface="Frank Ruhl Libre"/>
              <a:sym typeface="Frank Ruhl Libre"/>
            </a:endParaRPr>
          </a:p>
        </p:txBody>
      </p:sp>
      <p:pic>
        <p:nvPicPr>
          <p:cNvPr id="70" name="Google Shape;7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25" y="145700"/>
            <a:ext cx="1760100" cy="38854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3"/>
          <p:cNvSpPr txBox="1"/>
          <p:nvPr/>
        </p:nvSpPr>
        <p:spPr>
          <a:xfrm>
            <a:off x="3307250" y="1785938"/>
            <a:ext cx="20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944A1"/>
              </a:solidFill>
              <a:latin typeface="Frank Ruhl Libre"/>
              <a:ea typeface="Frank Ruhl Libre"/>
              <a:cs typeface="Frank Ruhl Libre"/>
              <a:sym typeface="Frank Ruhl Libre"/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7634300" y="392600"/>
            <a:ext cx="1432500" cy="346200"/>
          </a:xfrm>
          <a:prstGeom prst="rect">
            <a:avLst/>
          </a:prstGeom>
          <a:noFill/>
          <a:ln cap="flat" cmpd="sng" w="9525">
            <a:solidFill>
              <a:srgbClr val="0944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944A1"/>
                </a:solidFill>
                <a:latin typeface="Frank Ruhl Libre"/>
                <a:ea typeface="Frank Ruhl Libre"/>
                <a:cs typeface="Frank Ruhl Libre"/>
                <a:sym typeface="Frank Ruhl Libre"/>
              </a:rPr>
              <a:t>Isabel Jacobs, PharmD</a:t>
            </a:r>
            <a:endParaRPr sz="600">
              <a:solidFill>
                <a:srgbClr val="0944A1"/>
              </a:solidFill>
              <a:latin typeface="Frank Ruhl Libre"/>
              <a:ea typeface="Frank Ruhl Libre"/>
              <a:cs typeface="Frank Ruhl Libre"/>
              <a:sym typeface="Frank Ruhl Libre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0944A1"/>
                </a:solidFill>
                <a:latin typeface="Frank Ruhl Libre"/>
                <a:ea typeface="Frank Ruhl Libre"/>
                <a:cs typeface="Frank Ruhl Libre"/>
                <a:sym typeface="Frank Ruhl Libre"/>
              </a:rPr>
              <a:t>PGY2 Critical Care Pharmacy Resident</a:t>
            </a:r>
            <a:endParaRPr sz="600">
              <a:solidFill>
                <a:srgbClr val="0944A1"/>
              </a:solidFill>
              <a:latin typeface="Frank Ruhl Libre"/>
              <a:ea typeface="Frank Ruhl Libre"/>
              <a:cs typeface="Frank Ruhl Libre"/>
              <a:sym typeface="Frank Ruhl Libre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0944A1"/>
                </a:solidFill>
                <a:latin typeface="Frank Ruhl Libre"/>
                <a:ea typeface="Frank Ruhl Libre"/>
                <a:cs typeface="Frank Ruhl Libre"/>
                <a:sym typeface="Frank Ruhl Libre"/>
              </a:rPr>
              <a:t> isabel.jacobs@ascension.org</a:t>
            </a:r>
            <a:endParaRPr sz="600">
              <a:solidFill>
                <a:srgbClr val="0944A1"/>
              </a:solidFill>
              <a:latin typeface="Frank Ruhl Libre"/>
              <a:ea typeface="Frank Ruhl Libre"/>
              <a:cs typeface="Frank Ruhl Libre"/>
              <a:sym typeface="Frank Ruhl Libre"/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326950" y="392600"/>
            <a:ext cx="1359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0944A1"/>
                </a:solidFill>
                <a:latin typeface="Frank Ruhl Libre"/>
                <a:ea typeface="Frank Ruhl Libre"/>
                <a:cs typeface="Frank Ruhl Libre"/>
                <a:sym typeface="Frank Ruhl Libre"/>
              </a:rPr>
              <a:t>Ascension St. Vincent’s </a:t>
            </a:r>
            <a:endParaRPr b="1" sz="700">
              <a:solidFill>
                <a:srgbClr val="0944A1"/>
              </a:solidFill>
              <a:latin typeface="Frank Ruhl Libre"/>
              <a:ea typeface="Frank Ruhl Libre"/>
              <a:cs typeface="Frank Ruhl Libre"/>
              <a:sym typeface="Frank Ruhl Libr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0944A1"/>
                </a:solidFill>
                <a:latin typeface="Frank Ruhl Libre"/>
                <a:ea typeface="Frank Ruhl Libre"/>
                <a:cs typeface="Frank Ruhl Libre"/>
                <a:sym typeface="Frank Ruhl Libre"/>
              </a:rPr>
              <a:t>1 Shircliff Way </a:t>
            </a:r>
            <a:endParaRPr b="1" sz="700">
              <a:solidFill>
                <a:srgbClr val="0944A1"/>
              </a:solidFill>
              <a:latin typeface="Frank Ruhl Libre"/>
              <a:ea typeface="Frank Ruhl Libre"/>
              <a:cs typeface="Frank Ruhl Libre"/>
              <a:sym typeface="Frank Ruhl Libr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0944A1"/>
                </a:solidFill>
                <a:latin typeface="Frank Ruhl Libre"/>
                <a:ea typeface="Frank Ruhl Libre"/>
                <a:cs typeface="Frank Ruhl Libre"/>
                <a:sym typeface="Frank Ruhl Libre"/>
              </a:rPr>
              <a:t>Jacksonville, FL 32205 </a:t>
            </a:r>
            <a:endParaRPr b="1">
              <a:solidFill>
                <a:srgbClr val="0944A1"/>
              </a:solidFill>
              <a:latin typeface="Frank Ruhl Libre"/>
              <a:ea typeface="Frank Ruhl Libre"/>
              <a:cs typeface="Frank Ruhl Libre"/>
              <a:sym typeface="Frank Ruhl Libre"/>
            </a:endParaRPr>
          </a:p>
        </p:txBody>
      </p:sp>
      <p:grpSp>
        <p:nvGrpSpPr>
          <p:cNvPr id="74" name="Google Shape;74;p13"/>
          <p:cNvGrpSpPr/>
          <p:nvPr/>
        </p:nvGrpSpPr>
        <p:grpSpPr>
          <a:xfrm>
            <a:off x="5563363" y="3589832"/>
            <a:ext cx="1648799" cy="1188391"/>
            <a:chOff x="5553993" y="1181524"/>
            <a:chExt cx="1728482" cy="1257025"/>
          </a:xfrm>
        </p:grpSpPr>
        <p:pic>
          <p:nvPicPr>
            <p:cNvPr id="75" name="Google Shape;75;p13"/>
            <p:cNvPicPr preferRelativeResize="0"/>
            <p:nvPr/>
          </p:nvPicPr>
          <p:blipFill rotWithShape="1">
            <a:blip r:embed="rId4">
              <a:alphaModFix/>
            </a:blip>
            <a:srcRect b="9231" l="5982" r="4596" t="4976"/>
            <a:stretch/>
          </p:blipFill>
          <p:spPr>
            <a:xfrm>
              <a:off x="5556125" y="1181524"/>
              <a:ext cx="1726350" cy="12570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" name="Google Shape;76;p13"/>
            <p:cNvSpPr txBox="1"/>
            <p:nvPr/>
          </p:nvSpPr>
          <p:spPr>
            <a:xfrm>
              <a:off x="5553993" y="1181569"/>
              <a:ext cx="1698900" cy="148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00"/>
                <a:t>Chart 2: Serious Adverse Events with Bicarbonate-based Purge Solutions (n=11)*</a:t>
              </a:r>
              <a:endParaRPr b="1" sz="500"/>
            </a:p>
          </p:txBody>
        </p:sp>
      </p:grpSp>
      <p:grpSp>
        <p:nvGrpSpPr>
          <p:cNvPr id="77" name="Google Shape;77;p13"/>
          <p:cNvGrpSpPr/>
          <p:nvPr/>
        </p:nvGrpSpPr>
        <p:grpSpPr>
          <a:xfrm>
            <a:off x="2585637" y="3623544"/>
            <a:ext cx="3018800" cy="1409594"/>
            <a:chOff x="2567625" y="3164444"/>
            <a:chExt cx="3018800" cy="1409594"/>
          </a:xfrm>
        </p:grpSpPr>
        <p:grpSp>
          <p:nvGrpSpPr>
            <p:cNvPr id="78" name="Google Shape;78;p13"/>
            <p:cNvGrpSpPr/>
            <p:nvPr/>
          </p:nvGrpSpPr>
          <p:grpSpPr>
            <a:xfrm>
              <a:off x="2567625" y="3164444"/>
              <a:ext cx="3018800" cy="1409594"/>
              <a:chOff x="2567625" y="1161106"/>
              <a:chExt cx="3018800" cy="1409594"/>
            </a:xfrm>
          </p:grpSpPr>
          <p:grpSp>
            <p:nvGrpSpPr>
              <p:cNvPr id="79" name="Google Shape;79;p13"/>
              <p:cNvGrpSpPr/>
              <p:nvPr/>
            </p:nvGrpSpPr>
            <p:grpSpPr>
              <a:xfrm>
                <a:off x="2567625" y="1161106"/>
                <a:ext cx="2957574" cy="1292369"/>
                <a:chOff x="2567625" y="1161106"/>
                <a:chExt cx="2957574" cy="1292369"/>
              </a:xfrm>
            </p:grpSpPr>
            <p:pic>
              <p:nvPicPr>
                <p:cNvPr id="80" name="Google Shape;80;p13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7352" l="0" r="5580" t="7352"/>
                <a:stretch/>
              </p:blipFill>
              <p:spPr>
                <a:xfrm>
                  <a:off x="2567625" y="1163050"/>
                  <a:ext cx="2957574" cy="12904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81" name="Google Shape;81;p13"/>
                <p:cNvSpPr txBox="1"/>
                <p:nvPr/>
              </p:nvSpPr>
              <p:spPr>
                <a:xfrm>
                  <a:off x="2758324" y="1161106"/>
                  <a:ext cx="2738816" cy="119502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500"/>
                    <a:t>Chart 1: Serious Adverse Events with Heparin-based Purge Solutions (n=67)*</a:t>
                  </a:r>
                  <a:endParaRPr b="1" sz="500"/>
                </a:p>
              </p:txBody>
            </p:sp>
          </p:grpSp>
          <p:sp>
            <p:nvSpPr>
              <p:cNvPr id="82" name="Google Shape;82;p13"/>
              <p:cNvSpPr txBox="1"/>
              <p:nvPr/>
            </p:nvSpPr>
            <p:spPr>
              <a:xfrm>
                <a:off x="3743413" y="2490300"/>
                <a:ext cx="606000" cy="804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400"/>
                  <a:t>Adverse Events</a:t>
                </a:r>
                <a:endParaRPr b="1" sz="400"/>
              </a:p>
            </p:txBody>
          </p:sp>
          <p:sp>
            <p:nvSpPr>
              <p:cNvPr id="83" name="Google Shape;83;p13"/>
              <p:cNvSpPr txBox="1"/>
              <p:nvPr/>
            </p:nvSpPr>
            <p:spPr>
              <a:xfrm rot="-5400000">
                <a:off x="2277075" y="1759138"/>
                <a:ext cx="677400" cy="963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400"/>
                  <a:t>Number of Subjects</a:t>
                </a:r>
                <a:endParaRPr b="1" sz="400"/>
              </a:p>
            </p:txBody>
          </p:sp>
          <p:sp>
            <p:nvSpPr>
              <p:cNvPr id="84" name="Google Shape;84;p13"/>
              <p:cNvSpPr txBox="1"/>
              <p:nvPr/>
            </p:nvSpPr>
            <p:spPr>
              <a:xfrm>
                <a:off x="2792825" y="2289075"/>
                <a:ext cx="435000" cy="132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00"/>
                  <a:t>Hematoma formation</a:t>
                </a:r>
                <a:endParaRPr sz="300"/>
              </a:p>
            </p:txBody>
          </p:sp>
          <p:sp>
            <p:nvSpPr>
              <p:cNvPr id="85" name="Google Shape;85;p13"/>
              <p:cNvSpPr txBox="1"/>
              <p:nvPr/>
            </p:nvSpPr>
            <p:spPr>
              <a:xfrm>
                <a:off x="3200425" y="2287725"/>
                <a:ext cx="435000" cy="1161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00"/>
                  <a:t>Major </a:t>
                </a:r>
                <a:endParaRPr sz="300"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00"/>
                  <a:t>bleeding</a:t>
                </a:r>
                <a:endParaRPr sz="300"/>
              </a:p>
            </p:txBody>
          </p:sp>
          <p:sp>
            <p:nvSpPr>
              <p:cNvPr id="86" name="Google Shape;86;p13"/>
              <p:cNvSpPr txBox="1"/>
              <p:nvPr/>
            </p:nvSpPr>
            <p:spPr>
              <a:xfrm>
                <a:off x="3614775" y="2289075"/>
                <a:ext cx="388200" cy="132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00"/>
                  <a:t>Limb ischemia</a:t>
                </a:r>
                <a:endParaRPr sz="300"/>
              </a:p>
            </p:txBody>
          </p:sp>
          <p:sp>
            <p:nvSpPr>
              <p:cNvPr id="87" name="Google Shape;87;p13"/>
              <p:cNvSpPr txBox="1"/>
              <p:nvPr/>
            </p:nvSpPr>
            <p:spPr>
              <a:xfrm>
                <a:off x="4367200" y="2289075"/>
                <a:ext cx="466800" cy="132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0" spcFirstLastPara="1" rIns="0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00"/>
                  <a:t>Severe </a:t>
                </a:r>
                <a:endParaRPr sz="300"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00"/>
                  <a:t>thrombocytopenia</a:t>
                </a:r>
                <a:endParaRPr sz="300"/>
              </a:p>
            </p:txBody>
          </p:sp>
          <p:sp>
            <p:nvSpPr>
              <p:cNvPr id="88" name="Google Shape;88;p13"/>
              <p:cNvSpPr txBox="1"/>
              <p:nvPr/>
            </p:nvSpPr>
            <p:spPr>
              <a:xfrm>
                <a:off x="4816925" y="2289075"/>
                <a:ext cx="388200" cy="132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0" spcFirstLastPara="1" rIns="0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00"/>
                  <a:t>Venous </a:t>
                </a:r>
                <a:r>
                  <a:rPr lang="en" sz="300"/>
                  <a:t> </a:t>
                </a:r>
                <a:endParaRPr sz="300"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00"/>
                  <a:t>thromboembolism</a:t>
                </a:r>
                <a:endParaRPr sz="300"/>
              </a:p>
            </p:txBody>
          </p:sp>
          <p:sp>
            <p:nvSpPr>
              <p:cNvPr id="89" name="Google Shape;89;p13"/>
              <p:cNvSpPr txBox="1"/>
              <p:nvPr/>
            </p:nvSpPr>
            <p:spPr>
              <a:xfrm>
                <a:off x="5198225" y="2289075"/>
                <a:ext cx="388200" cy="132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0" spcFirstLastPara="1" rIns="0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00"/>
                  <a:t>Device </a:t>
                </a:r>
                <a:endParaRPr sz="300"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00"/>
                  <a:t>thrombosis</a:t>
                </a:r>
                <a:endParaRPr sz="300"/>
              </a:p>
            </p:txBody>
          </p:sp>
          <p:sp>
            <p:nvSpPr>
              <p:cNvPr id="90" name="Google Shape;90;p13"/>
              <p:cNvSpPr txBox="1"/>
              <p:nvPr/>
            </p:nvSpPr>
            <p:spPr>
              <a:xfrm>
                <a:off x="2679950" y="1302600"/>
                <a:ext cx="70800" cy="132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0" spcFirstLastPara="1" rIns="0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400"/>
                  <a:t>8</a:t>
                </a:r>
                <a:endParaRPr sz="400"/>
              </a:p>
            </p:txBody>
          </p:sp>
          <p:sp>
            <p:nvSpPr>
              <p:cNvPr id="91" name="Google Shape;91;p13"/>
              <p:cNvSpPr txBox="1"/>
              <p:nvPr/>
            </p:nvSpPr>
            <p:spPr>
              <a:xfrm>
                <a:off x="2679950" y="1526450"/>
                <a:ext cx="70800" cy="132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0" spcFirstLastPara="1" rIns="0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400"/>
                  <a:t>6</a:t>
                </a:r>
                <a:endParaRPr sz="400"/>
              </a:p>
            </p:txBody>
          </p:sp>
          <p:sp>
            <p:nvSpPr>
              <p:cNvPr id="92" name="Google Shape;92;p13"/>
              <p:cNvSpPr txBox="1"/>
              <p:nvPr/>
            </p:nvSpPr>
            <p:spPr>
              <a:xfrm>
                <a:off x="2679950" y="1774100"/>
                <a:ext cx="70800" cy="132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0" spcFirstLastPara="1" rIns="0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400"/>
                  <a:t>4</a:t>
                </a:r>
                <a:endParaRPr sz="400"/>
              </a:p>
            </p:txBody>
          </p:sp>
          <p:sp>
            <p:nvSpPr>
              <p:cNvPr id="93" name="Google Shape;93;p13"/>
              <p:cNvSpPr txBox="1"/>
              <p:nvPr/>
            </p:nvSpPr>
            <p:spPr>
              <a:xfrm>
                <a:off x="2679950" y="1990800"/>
                <a:ext cx="70800" cy="132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0" spcFirstLastPara="1" rIns="0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400"/>
                  <a:t>2</a:t>
                </a:r>
                <a:endParaRPr sz="400"/>
              </a:p>
            </p:txBody>
          </p:sp>
          <p:sp>
            <p:nvSpPr>
              <p:cNvPr id="94" name="Google Shape;94;p13"/>
              <p:cNvSpPr txBox="1"/>
              <p:nvPr/>
            </p:nvSpPr>
            <p:spPr>
              <a:xfrm>
                <a:off x="2687700" y="2207500"/>
                <a:ext cx="70800" cy="132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0" spcFirstLastPara="1" rIns="0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400"/>
                  <a:t>0</a:t>
                </a:r>
                <a:endParaRPr sz="400"/>
              </a:p>
            </p:txBody>
          </p:sp>
          <p:sp>
            <p:nvSpPr>
              <p:cNvPr id="95" name="Google Shape;95;p13"/>
              <p:cNvSpPr txBox="1"/>
              <p:nvPr/>
            </p:nvSpPr>
            <p:spPr>
              <a:xfrm>
                <a:off x="2993600" y="1674075"/>
                <a:ext cx="70800" cy="132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0" spcFirstLastPara="1" rIns="0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1" lang="en" sz="400">
                    <a:solidFill>
                      <a:srgbClr val="0944A1"/>
                    </a:solidFill>
                  </a:rPr>
                  <a:t>4</a:t>
                </a:r>
                <a:endParaRPr b="1" sz="400">
                  <a:solidFill>
                    <a:srgbClr val="0944A1"/>
                  </a:solidFill>
                </a:endParaRPr>
              </a:p>
            </p:txBody>
          </p:sp>
          <p:sp>
            <p:nvSpPr>
              <p:cNvPr id="96" name="Google Shape;96;p13"/>
              <p:cNvSpPr txBox="1"/>
              <p:nvPr/>
            </p:nvSpPr>
            <p:spPr>
              <a:xfrm>
                <a:off x="3382525" y="1278900"/>
                <a:ext cx="70800" cy="96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0" spcFirstLastPara="1" rIns="0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400">
                    <a:solidFill>
                      <a:srgbClr val="0944A1"/>
                    </a:solidFill>
                  </a:rPr>
                  <a:t>8</a:t>
                </a:r>
                <a:endParaRPr b="1" sz="400">
                  <a:solidFill>
                    <a:srgbClr val="0944A1"/>
                  </a:solidFill>
                </a:endParaRPr>
              </a:p>
            </p:txBody>
          </p:sp>
          <p:sp>
            <p:nvSpPr>
              <p:cNvPr id="97" name="Google Shape;97;p13"/>
              <p:cNvSpPr txBox="1"/>
              <p:nvPr/>
            </p:nvSpPr>
            <p:spPr>
              <a:xfrm>
                <a:off x="3773475" y="1926600"/>
                <a:ext cx="70800" cy="96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0" spcFirstLastPara="1" rIns="0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400">
                    <a:solidFill>
                      <a:srgbClr val="0944A1"/>
                    </a:solidFill>
                  </a:rPr>
                  <a:t>2</a:t>
                </a:r>
                <a:endParaRPr b="1" sz="400">
                  <a:solidFill>
                    <a:srgbClr val="0944A1"/>
                  </a:solidFill>
                </a:endParaRPr>
              </a:p>
            </p:txBody>
          </p:sp>
          <p:sp>
            <p:nvSpPr>
              <p:cNvPr id="98" name="Google Shape;98;p13"/>
              <p:cNvSpPr txBox="1"/>
              <p:nvPr/>
            </p:nvSpPr>
            <p:spPr>
              <a:xfrm>
                <a:off x="4172900" y="2049100"/>
                <a:ext cx="70800" cy="96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0" spcFirstLastPara="1" rIns="0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400">
                    <a:solidFill>
                      <a:srgbClr val="0944A1"/>
                    </a:solidFill>
                  </a:rPr>
                  <a:t>1</a:t>
                </a:r>
                <a:endParaRPr b="1" sz="400">
                  <a:solidFill>
                    <a:srgbClr val="0944A1"/>
                  </a:solidFill>
                </a:endParaRPr>
              </a:p>
            </p:txBody>
          </p:sp>
          <p:sp>
            <p:nvSpPr>
              <p:cNvPr id="99" name="Google Shape;99;p13"/>
              <p:cNvSpPr txBox="1"/>
              <p:nvPr/>
            </p:nvSpPr>
            <p:spPr>
              <a:xfrm>
                <a:off x="4572000" y="1483675"/>
                <a:ext cx="70800" cy="96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0" spcFirstLastPara="1" rIns="0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400">
                    <a:solidFill>
                      <a:srgbClr val="0944A1"/>
                    </a:solidFill>
                  </a:rPr>
                  <a:t>6</a:t>
                </a:r>
                <a:endParaRPr b="1" sz="400">
                  <a:solidFill>
                    <a:srgbClr val="0944A1"/>
                  </a:solidFill>
                </a:endParaRPr>
              </a:p>
            </p:txBody>
          </p:sp>
          <p:sp>
            <p:nvSpPr>
              <p:cNvPr id="100" name="Google Shape;100;p13"/>
              <p:cNvSpPr txBox="1"/>
              <p:nvPr/>
            </p:nvSpPr>
            <p:spPr>
              <a:xfrm>
                <a:off x="4975625" y="1829700"/>
                <a:ext cx="70800" cy="96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0" spcFirstLastPara="1" rIns="0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400">
                    <a:solidFill>
                      <a:srgbClr val="0944A1"/>
                    </a:solidFill>
                  </a:rPr>
                  <a:t>3</a:t>
                </a:r>
                <a:endParaRPr b="1" sz="400">
                  <a:solidFill>
                    <a:srgbClr val="0944A1"/>
                  </a:solidFill>
                </a:endParaRPr>
              </a:p>
            </p:txBody>
          </p:sp>
          <p:sp>
            <p:nvSpPr>
              <p:cNvPr id="101" name="Google Shape;101;p13"/>
              <p:cNvSpPr txBox="1"/>
              <p:nvPr/>
            </p:nvSpPr>
            <p:spPr>
              <a:xfrm>
                <a:off x="5340250" y="1829700"/>
                <a:ext cx="70800" cy="96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0" spcFirstLastPara="1" rIns="0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400">
                    <a:solidFill>
                      <a:srgbClr val="0944A1"/>
                    </a:solidFill>
                  </a:rPr>
                  <a:t>3</a:t>
                </a:r>
                <a:endParaRPr b="1" sz="400">
                  <a:solidFill>
                    <a:srgbClr val="0944A1"/>
                  </a:solidFill>
                </a:endParaRPr>
              </a:p>
            </p:txBody>
          </p:sp>
        </p:grpSp>
        <p:sp>
          <p:nvSpPr>
            <p:cNvPr id="102" name="Google Shape;102;p13"/>
            <p:cNvSpPr txBox="1"/>
            <p:nvPr/>
          </p:nvSpPr>
          <p:spPr>
            <a:xfrm>
              <a:off x="4003075" y="4280528"/>
              <a:ext cx="388200" cy="177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"/>
                <a:t>Device malfunction</a:t>
              </a:r>
              <a:endParaRPr sz="300"/>
            </a:p>
          </p:txBody>
        </p:sp>
      </p:grpSp>
      <p:sp>
        <p:nvSpPr>
          <p:cNvPr id="103" name="Google Shape;103;p13"/>
          <p:cNvSpPr txBox="1"/>
          <p:nvPr/>
        </p:nvSpPr>
        <p:spPr>
          <a:xfrm>
            <a:off x="5542675" y="4844125"/>
            <a:ext cx="1647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00">
                <a:solidFill>
                  <a:schemeClr val="dk1"/>
                </a:solidFill>
              </a:rPr>
              <a:t>*One patient may have experienced more than one adverse event</a:t>
            </a:r>
            <a:endParaRPr i="1" sz="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00">
                <a:solidFill>
                  <a:schemeClr val="dk1"/>
                </a:solidFill>
              </a:rPr>
              <a:t>All values are reported as median or n (%) unless otherwise noted </a:t>
            </a:r>
            <a:endParaRPr i="1" sz="4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500"/>
          </a:p>
        </p:txBody>
      </p:sp>
      <p:graphicFrame>
        <p:nvGraphicFramePr>
          <p:cNvPr id="104" name="Google Shape;104;p13"/>
          <p:cNvGraphicFramePr/>
          <p:nvPr/>
        </p:nvGraphicFramePr>
        <p:xfrm>
          <a:off x="2736788" y="1195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{D7048B91-C5F6-41E3-9467-2ABCC4E3339C}</a:tableStyleId>
              </a:tblPr>
              <a:tblGrid>
                <a:gridCol w="1230550"/>
                <a:gridCol w="675850"/>
              </a:tblGrid>
              <a:tr h="121825">
                <a:tc gridSpan="2">
                  <a:txBody>
                    <a:bodyPr/>
                    <a:lstStyle/>
                    <a:p>
                      <a:pPr indent="-9144" lvl="0" marL="9144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Table 1: Baseline Demographics </a:t>
                      </a:r>
                      <a:endParaRPr b="1" sz="6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25" marB="9125" marR="9125" marL="45700">
                    <a:lnL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 hMerge="1"/>
              </a:tr>
              <a:tr h="210225">
                <a:tc>
                  <a:txBody>
                    <a:bodyPr/>
                    <a:lstStyle/>
                    <a:p>
                      <a:pPr indent="-9144" lvl="0" marL="9144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Characteristic </a:t>
                      </a:r>
                      <a:endParaRPr b="1" sz="6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25" marB="9125" marR="9125" marL="45700" anchor="ctr">
                    <a:lnL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indent="-9144" lvl="0" marL="9144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Result  </a:t>
                      </a:r>
                      <a:endParaRPr b="1" sz="6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9144" lvl="0" marL="9144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(n=80)</a:t>
                      </a:r>
                      <a:endParaRPr b="1" sz="6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25" marB="9125" marR="9125" marL="45700" anchor="ctr">
                    <a:lnL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394"/>
                    </a:solidFill>
                  </a:tcPr>
                </a:tc>
              </a:tr>
              <a:tr h="163400">
                <a:tc>
                  <a:txBody>
                    <a:bodyPr/>
                    <a:lstStyle/>
                    <a:p>
                      <a:pPr indent="-9144" lvl="0" marL="9144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 age, years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25" marB="9125" marR="9125" marL="45700" anchor="ctr">
                    <a:lnL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-9144" lvl="0" marL="9144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66.26 </a:t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25" marB="9125" marR="9125" marL="45700" anchor="ctr">
                    <a:lnL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166275">
                <a:tc>
                  <a:txBody>
                    <a:bodyPr/>
                    <a:lstStyle/>
                    <a:p>
                      <a:pPr indent="-9144" lvl="0" marL="9144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Male subjects 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25" marB="9125" marR="9125" marL="45700" anchor="ctr">
                    <a:lnL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9144" lvl="0" marL="9144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 (75)  </a:t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25" marB="9125" marR="9125" marL="45700" anchor="ctr">
                    <a:lnL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0750">
                <a:tc>
                  <a:txBody>
                    <a:bodyPr/>
                    <a:lstStyle/>
                    <a:p>
                      <a:pPr indent="-9144" lvl="0" marL="9144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Impella</a:t>
                      </a:r>
                      <a:r>
                        <a:rPr baseline="30000"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®</a:t>
                      </a:r>
                      <a:r>
                        <a:rPr b="1"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indication 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100584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CABG/PCI</a:t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100584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Post-ROSC</a:t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100584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STEMI</a:t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100584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nSTEMI </a:t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100584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Other </a:t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9125" marR="9125" marL="45700" anchor="ctr">
                    <a:lnL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-9144" lvl="0" marL="9144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9144" lvl="0" marL="9144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 (34)</a:t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9144" lvl="0" marL="9144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 (20)</a:t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9144" lvl="0" marL="9144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 (19)</a:t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9144" lvl="0" marL="9144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 (17)</a:t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9144" lvl="0" marL="9144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(10)</a:t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25" marB="9125" marR="9125" marL="45700" anchor="ctr">
                    <a:lnL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147075">
                <a:tc>
                  <a:txBody>
                    <a:bodyPr/>
                    <a:lstStyle/>
                    <a:p>
                      <a:pPr indent="-9144" lvl="0" marL="9144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Baseline LVEF, %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25" marB="9125" marR="9125" marL="45700" anchor="ctr">
                    <a:lnL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9144" lvl="0" marL="9144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 (15)</a:t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25" marB="9125" marR="9125" marL="45700" anchor="ctr">
                    <a:lnL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9650">
                <a:tc>
                  <a:txBody>
                    <a:bodyPr/>
                    <a:lstStyle/>
                    <a:p>
                      <a:pPr indent="-9144" lvl="0" marL="9144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 hemoglobin, g/dL</a:t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25" marB="9125" marR="9125" marL="45700" anchor="ctr">
                    <a:lnL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-9144" lvl="0" marL="9144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12.9 </a:t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25" marB="9125" marR="9125" marL="45700" anchor="ctr">
                    <a:lnL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534825">
                <a:tc>
                  <a:txBody>
                    <a:bodyPr/>
                    <a:lstStyle/>
                    <a:p>
                      <a:pPr indent="-9144" lvl="0" marL="9144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Systemic anticoagulation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100584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Heparin 25000 units </a:t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100584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Argatroban </a:t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100584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Bivalirudin </a:t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100584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None</a:t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9125" marR="9125" marL="45700" anchor="ctr">
                    <a:lnL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9144" lvl="0" marL="9144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9144" lvl="0" marL="9144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 (68)</a:t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9144" lvl="0" marL="9144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(4)</a:t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9144" lvl="0" marL="9144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(2)</a:t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9144" lvl="0" marL="9144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 (25) </a:t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25" marB="9125" marR="9125" marL="45700" anchor="ctr">
                    <a:lnL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5" name="Google Shape;105;p13"/>
          <p:cNvGraphicFramePr/>
          <p:nvPr/>
        </p:nvGraphicFramePr>
        <p:xfrm>
          <a:off x="4805700" y="1192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{E309FB60-093C-4849-ACE8-8D9AC2989235}</a:tableStyleId>
              </a:tblPr>
              <a:tblGrid>
                <a:gridCol w="1778250"/>
                <a:gridCol w="484275"/>
              </a:tblGrid>
              <a:tr h="10795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Table 2: Clinical Outcomes of Impella Use</a:t>
                      </a:r>
                      <a:endParaRPr b="1" sz="6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25" marB="9125" marR="9125" marL="9125">
                    <a:lnL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 hMerge="1"/>
              </a:tr>
              <a:tr h="125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Outcome</a:t>
                      </a:r>
                      <a:endParaRPr b="1" sz="6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25" marB="9125" marR="9125" marL="9125" anchor="ctr">
                    <a:lnL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Result </a:t>
                      </a:r>
                      <a:endParaRPr b="1" sz="6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(n=80)</a:t>
                      </a:r>
                      <a:endParaRPr b="1" sz="6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25" marB="9125" marR="9125" marL="9125">
                    <a:lnL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394"/>
                    </a:solidFill>
                  </a:tcPr>
                </a:tc>
              </a:tr>
              <a:tr h="107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 duration of Impella</a:t>
                      </a:r>
                      <a:r>
                        <a:rPr baseline="30000"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® </a:t>
                      </a:r>
                      <a:r>
                        <a:rPr b="1"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use, days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25" marB="9125" marR="9125" marL="45700" anchor="ctr">
                    <a:lnL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2.5 </a:t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25" marB="9125" marR="9125" marL="9125">
                    <a:lnL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107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Increase in LVEF, % 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25" marB="9125" marR="9125" marL="45700" anchor="ctr">
                    <a:lnL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(5)</a:t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25" marB="9125" marR="9125" marL="9125">
                    <a:lnL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Reasoning for change purge pressure or rate 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100584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change or undocumented reason</a:t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100584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Decrease/weaning for explant </a:t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100584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Increase due to lack of cardiac output</a:t>
                      </a:r>
                      <a:r>
                        <a:rPr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100584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r>
                        <a:rPr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ncrease due to device malfunction </a:t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25" marB="9125" marR="9125" marL="45700" anchor="ctr">
                    <a:lnL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 (40)</a:t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 (35)</a:t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 (22.5)</a:t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(2.5) </a:t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25" marB="9125" marR="9125" marL="9125">
                    <a:lnL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12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Percentage of time within aPTT goal range, %  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25" marB="9125" marR="9125" marL="45700" anchor="ctr">
                    <a:lnL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26.1 (26.6) </a:t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25" marB="9125" marR="9125" marL="9125">
                    <a:lnL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7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 LDH level, g/dL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25" marB="9125" marR="9125" marL="45700" anchor="ctr">
                    <a:lnL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1475.3</a:t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25" marB="9125" marR="9125" marL="9125">
                    <a:lnL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107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Mortality rate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25" marB="9125" marR="9125" marL="45700" anchor="ctr">
                    <a:lnL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 (36) </a:t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25" marB="9125" marR="9125" marL="9125">
                    <a:lnL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aPTT goals for systemic anticoagulation, s 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100584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50-70 </a:t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100584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60-90 </a:t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100584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N/A </a:t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25" marB="9125" marR="9125" marL="45700" anchor="ctr">
                    <a:lnL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(1)</a:t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56 (70)</a:t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 (29)</a:t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25" marB="9125" marR="9125" marL="9125">
                    <a:lnL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282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 hemoglobin decrease during Impella</a:t>
                      </a:r>
                      <a:r>
                        <a:rPr baseline="30000"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®</a:t>
                      </a:r>
                      <a:r>
                        <a:rPr b="1"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g/dL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100584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Bicarbonate purge solution (n=11)</a:t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100584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Heparin purge solution (n=67)</a:t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25" marB="9125" marR="9125" marL="45700" anchor="ctr">
                    <a:lnL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4.0</a:t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5.0</a:t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3.8</a:t>
                      </a:r>
                      <a:endParaRPr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25" marB="9125" marR="9125" marL="9125">
                    <a:lnL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944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6" name="Google Shape;106;p13"/>
          <p:cNvSpPr txBox="1"/>
          <p:nvPr/>
        </p:nvSpPr>
        <p:spPr>
          <a:xfrm>
            <a:off x="4010425" y="3396770"/>
            <a:ext cx="1647600" cy="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00">
                <a:solidFill>
                  <a:schemeClr val="dk1"/>
                </a:solidFill>
              </a:rPr>
              <a:t>All values are reported as median or n (%) unless otherwise noted </a:t>
            </a:r>
            <a:endParaRPr i="1" sz="500"/>
          </a:p>
        </p:txBody>
      </p:sp>
      <p:cxnSp>
        <p:nvCxnSpPr>
          <p:cNvPr id="107" name="Google Shape;107;p13"/>
          <p:cNvCxnSpPr/>
          <p:nvPr/>
        </p:nvCxnSpPr>
        <p:spPr>
          <a:xfrm flipH="1">
            <a:off x="7229475" y="893300"/>
            <a:ext cx="35400" cy="41169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" name="Google Shape;108;p13"/>
          <p:cNvCxnSpPr/>
          <p:nvPr/>
        </p:nvCxnSpPr>
        <p:spPr>
          <a:xfrm flipH="1">
            <a:off x="2557550" y="914400"/>
            <a:ext cx="28500" cy="41100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" name="Google Shape;109;p13"/>
          <p:cNvSpPr txBox="1"/>
          <p:nvPr/>
        </p:nvSpPr>
        <p:spPr>
          <a:xfrm>
            <a:off x="7326600" y="2952650"/>
            <a:ext cx="18573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4000" spcFirstLastPara="1" rIns="68575" wrap="square" tIns="34275">
            <a:noAutofit/>
          </a:bodyPr>
          <a:lstStyle/>
          <a:p>
            <a:pPr indent="-150622" lvl="0" marL="11887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Calibri"/>
              <a:buChar char="●"/>
            </a:pPr>
            <a:r>
              <a:rPr lang="en" sz="600">
                <a:latin typeface="Calibri"/>
                <a:ea typeface="Calibri"/>
                <a:cs typeface="Calibri"/>
                <a:sym typeface="Calibri"/>
              </a:rPr>
              <a:t>Future evaluation of Impella</a:t>
            </a:r>
            <a:r>
              <a:rPr baseline="30000" lang="en" sz="600">
                <a:latin typeface="Calibri"/>
                <a:ea typeface="Calibri"/>
                <a:cs typeface="Calibri"/>
                <a:sym typeface="Calibri"/>
              </a:rPr>
              <a:t>Ⓡ</a:t>
            </a:r>
            <a:r>
              <a:rPr lang="en" sz="600">
                <a:latin typeface="Calibri"/>
                <a:ea typeface="Calibri"/>
                <a:cs typeface="Calibri"/>
                <a:sym typeface="Calibri"/>
              </a:rPr>
              <a:t>-related bleeding and thrombotic risks are warranted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  <a:p>
            <a:pPr indent="-150622" lvl="0" marL="11887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Calibri"/>
              <a:buChar char="●"/>
            </a:pPr>
            <a:r>
              <a:rPr lang="en" sz="600">
                <a:latin typeface="Calibri"/>
                <a:ea typeface="Calibri"/>
                <a:cs typeface="Calibri"/>
                <a:sym typeface="Calibri"/>
              </a:rPr>
              <a:t>Investigation can be used as baseline to compare post-orderset outcomes    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  <a:p>
            <a:pPr indent="-150622" lvl="0" marL="11887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Calibri"/>
              <a:buChar char="●"/>
            </a:pPr>
            <a:r>
              <a:rPr lang="en" sz="600">
                <a:latin typeface="Calibri"/>
                <a:ea typeface="Calibri"/>
                <a:cs typeface="Calibri"/>
                <a:sym typeface="Calibri"/>
              </a:rPr>
              <a:t>Despite systemic anticoagulation, thrombotic events were noted in the lower dose heparin-based purge solution concentrations (12000 unit and 12500 unit)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  <a:p>
            <a:pPr indent="-150622" lvl="0" marL="11887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Calibri"/>
              <a:buChar char="●"/>
            </a:pPr>
            <a:r>
              <a:rPr lang="en" sz="600">
                <a:latin typeface="Calibri"/>
                <a:ea typeface="Calibri"/>
                <a:cs typeface="Calibri"/>
                <a:sym typeface="Calibri"/>
              </a:rPr>
              <a:t>Lower aPTT goals may be utilized to adjust for the Impella</a:t>
            </a:r>
            <a:r>
              <a:rPr baseline="30000" lang="en" sz="600">
                <a:latin typeface="Calibri"/>
                <a:ea typeface="Calibri"/>
                <a:cs typeface="Calibri"/>
                <a:sym typeface="Calibri"/>
              </a:rPr>
              <a:t>Ⓡ </a:t>
            </a:r>
            <a:r>
              <a:rPr lang="en" sz="600">
                <a:latin typeface="Calibri"/>
                <a:ea typeface="Calibri"/>
                <a:cs typeface="Calibri"/>
                <a:sym typeface="Calibri"/>
              </a:rPr>
              <a:t>purge solution and hemolytic effect of pump such as 55-80 s based on manufacturer recommendation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  <a:p>
            <a:pPr indent="-150622" lvl="0" marL="11887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Calibri"/>
              <a:buChar char="●"/>
            </a:pPr>
            <a:r>
              <a:rPr lang="en" sz="600">
                <a:latin typeface="Calibri"/>
                <a:ea typeface="Calibri"/>
                <a:cs typeface="Calibri"/>
                <a:sym typeface="Calibri"/>
              </a:rPr>
              <a:t>May reduce variability in prescribing patterns and adverse events risk with new orderset standardized purge solution 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