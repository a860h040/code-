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xample_unzip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" y="158733"/>
            <a:ext cx="1417320" cy="267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8912" y="493776"/>
            <a:ext cx="1005840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1F4E99"/>
                </a:solidFill>
              </a:rPr>
              <a:t>Ascension St. Vincent’s</a:t>
            </a:r>
            <a:endParaRPr lang="en-US" sz="540" dirty="0"/>
          </a:p>
          <a:p>
            <a:pPr algn="ctr" indent="0" marL="0">
              <a:buNone/>
            </a:pPr>
            <a:r>
              <a:rPr lang="en-US" sz="540" b="1" dirty="0">
                <a:solidFill>
                  <a:srgbClr val="1F4E99"/>
                </a:solidFill>
              </a:rPr>
              <a:t>1 Shircliff Way</a:t>
            </a:r>
            <a:endParaRPr lang="en-US" sz="540" dirty="0"/>
          </a:p>
          <a:p>
            <a:pPr algn="ctr" indent="0" marL="0">
              <a:buNone/>
            </a:pPr>
            <a:r>
              <a:rPr lang="en-US" sz="540" b="1" dirty="0">
                <a:solidFill>
                  <a:srgbClr val="1F4E99"/>
                </a:solidFill>
              </a:rPr>
              <a:t>Jacksonville, FL 32205</a:t>
            </a:r>
            <a:endParaRPr lang="en-US" sz="540" dirty="0"/>
          </a:p>
        </p:txBody>
      </p:sp>
      <p:sp>
        <p:nvSpPr>
          <p:cNvPr id="4" name="Text 1"/>
          <p:cNvSpPr/>
          <p:nvPr/>
        </p:nvSpPr>
        <p:spPr>
          <a:xfrm>
            <a:off x="1554480" y="36576"/>
            <a:ext cx="5989320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3A66"/>
                </a:solidFill>
              </a:rPr>
              <a:t>Medication Use Evaluation of Apixaban Dosing and Duration for Venous Thromboembolism Prophylaxis Following Total Hip or Knee Arthroplasty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1554480" y="429768"/>
            <a:ext cx="598932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11111"/>
                </a:solidFill>
              </a:rPr>
              <a:t>Alhamza Hamza, PharmD; Clare Brewster, PharmD, MPH; Kassandra Ramos, PharmD, MBA, BCCCP; Tina Gifford, PharmD, BCPS</a:t>
            </a:r>
            <a:endParaRPr lang="en-US" sz="720" dirty="0"/>
          </a:p>
        </p:txBody>
      </p:sp>
      <p:sp>
        <p:nvSpPr>
          <p:cNvPr id="6" name="Text 3"/>
          <p:cNvSpPr/>
          <p:nvPr/>
        </p:nvSpPr>
        <p:spPr>
          <a:xfrm>
            <a:off x="2240280" y="621792"/>
            <a:ext cx="457200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570" b="1" i="1" dirty="0">
                <a:solidFill>
                  <a:srgbClr val="111111"/>
                </a:solidFill>
              </a:rPr>
              <a:t>The authors have no conflicts of interest.</a:t>
            </a:r>
            <a:endParaRPr lang="en-US" sz="570" dirty="0"/>
          </a:p>
        </p:txBody>
      </p:sp>
      <p:sp>
        <p:nvSpPr>
          <p:cNvPr id="7" name="Text 4"/>
          <p:cNvSpPr/>
          <p:nvPr/>
        </p:nvSpPr>
        <p:spPr>
          <a:xfrm>
            <a:off x="7680960" y="128016"/>
            <a:ext cx="1335024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1F4E9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1F4E99"/>
                </a:solidFill>
              </a:rPr>
              <a:t>Alhamza Hamza, PharmD</a:t>
            </a:r>
            <a:endParaRPr lang="en-US" sz="540" dirty="0"/>
          </a:p>
          <a:p>
            <a:pPr algn="ctr" indent="0" marL="0">
              <a:buNone/>
            </a:pPr>
            <a:r>
              <a:rPr lang="en-US" sz="540" b="1" dirty="0">
                <a:solidFill>
                  <a:srgbClr val="1F4E99"/>
                </a:solidFill>
              </a:rPr>
              <a:t>PGY1 Pharmacy Resident</a:t>
            </a:r>
            <a:endParaRPr lang="en-US" sz="540" dirty="0"/>
          </a:p>
          <a:p>
            <a:pPr algn="ctr" indent="0" marL="0">
              <a:buNone/>
            </a:pPr>
            <a:r>
              <a:rPr lang="en-US" sz="540" b="1" dirty="0">
                <a:solidFill>
                  <a:srgbClr val="1F4E99"/>
                </a:solidFill>
              </a:rPr>
              <a:t>Ascension St. Vincent’s Riverside</a:t>
            </a:r>
            <a:endParaRPr lang="en-US" sz="540" dirty="0"/>
          </a:p>
        </p:txBody>
      </p:sp>
      <p:sp>
        <p:nvSpPr>
          <p:cNvPr id="8" name="Shape 5"/>
          <p:cNvSpPr/>
          <p:nvPr/>
        </p:nvSpPr>
        <p:spPr>
          <a:xfrm>
            <a:off x="2514600" y="841248"/>
            <a:ext cx="0" cy="4114800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068312" y="841248"/>
            <a:ext cx="0" cy="4114800"/>
          </a:xfrm>
          <a:prstGeom prst="line">
            <a:avLst/>
          </a:prstGeom>
          <a:noFill/>
          <a:ln w="10160">
            <a:solidFill>
              <a:srgbClr val="99999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" y="896112"/>
            <a:ext cx="2359152" cy="201168"/>
          </a:xfrm>
          <a:prstGeom prst="rect">
            <a:avLst/>
          </a:prstGeom>
          <a:solidFill>
            <a:srgbClr val="1F4E99"/>
          </a:solidFill>
          <a:ln w="6350">
            <a:solidFill>
              <a:srgbClr val="1F4E9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91440" y="1133856"/>
            <a:ext cx="2304288" cy="9966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5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undergoing total hip or knee arthroplasty are at increased risk for postoperative venous thromboembolism (VTE), including deep vein thrombosis and pulmonary embolism.</a:t>
            </a:r>
            <a:endParaRPr lang="en-US" sz="580" dirty="0"/>
          </a:p>
          <a:p>
            <a:r>
              <a:rPr lang="en-US" sz="5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Apixaban is used for VTE prophylaxis after hip or knee replacement surgery.</a:t>
            </a:r>
            <a:endParaRPr lang="en-US" sz="580" dirty="0"/>
          </a:p>
          <a:p>
            <a:r>
              <a:rPr lang="en-US" sz="5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apixaban therapy is 2.5 mg orally twice daily, started 12 to 24 hours after surgery.</a:t>
            </a:r>
            <a:endParaRPr lang="en-US" sz="580" dirty="0"/>
          </a:p>
          <a:p>
            <a:r>
              <a:rPr lang="en-US" sz="5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duration is 35 days after hip replacement and 12 days after knee replacement.</a:t>
            </a:r>
            <a:endParaRPr lang="en-US" sz="580" dirty="0"/>
          </a:p>
          <a:p>
            <a:r>
              <a:rPr lang="en-US" sz="5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duration includes both inpatient and outpatient apixaban doses.</a:t>
            </a:r>
            <a:endParaRPr lang="en-US" sz="580" dirty="0"/>
          </a:p>
        </p:txBody>
      </p:sp>
      <p:sp>
        <p:nvSpPr>
          <p:cNvPr id="12" name="Text 9"/>
          <p:cNvSpPr/>
          <p:nvPr/>
        </p:nvSpPr>
        <p:spPr>
          <a:xfrm>
            <a:off x="73152" y="2194560"/>
            <a:ext cx="2359152" cy="201168"/>
          </a:xfrm>
          <a:prstGeom prst="rect">
            <a:avLst/>
          </a:prstGeom>
          <a:solidFill>
            <a:srgbClr val="1F4E99"/>
          </a:solidFill>
          <a:ln w="6350">
            <a:solidFill>
              <a:srgbClr val="1F4E9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109728" y="2441448"/>
            <a:ext cx="2267712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evaluate whether apixaban prescribed for postoperative VTE prophylaxis after total hip or knee arthroplasty was consistent with the recommended dose and total treatment duration.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73152" y="2907792"/>
            <a:ext cx="2359152" cy="201168"/>
          </a:xfrm>
          <a:prstGeom prst="rect">
            <a:avLst/>
          </a:prstGeom>
          <a:solidFill>
            <a:srgbClr val="1F4E99"/>
          </a:solidFill>
          <a:ln w="6350">
            <a:solidFill>
              <a:srgbClr val="1F4E9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3152" y="3163824"/>
            <a:ext cx="640080" cy="204216"/>
          </a:xfrm>
          <a:prstGeom prst="rect">
            <a:avLst/>
          </a:prstGeom>
          <a:solidFill>
            <a:srgbClr val="003A66"/>
          </a:solidFill>
          <a:ln w="6350">
            <a:solidFill>
              <a:srgbClr val="1F4E9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design</a:t>
            </a:r>
            <a:endParaRPr lang="en-US" sz="510" dirty="0"/>
          </a:p>
        </p:txBody>
      </p:sp>
      <p:sp>
        <p:nvSpPr>
          <p:cNvPr id="16" name="Text 13"/>
          <p:cNvSpPr/>
          <p:nvPr/>
        </p:nvSpPr>
        <p:spPr>
          <a:xfrm>
            <a:off x="713232" y="3163824"/>
            <a:ext cx="1719072" cy="204216"/>
          </a:xfrm>
          <a:prstGeom prst="rect">
            <a:avLst/>
          </a:prstGeom>
          <a:solidFill>
            <a:srgbClr val="003A66"/>
          </a:solidFill>
          <a:ln w="6350">
            <a:solidFill>
              <a:srgbClr val="1F4E9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Retrospective medication-use evaluation</a:t>
            </a:r>
            <a:endParaRPr lang="en-US" sz="510" dirty="0"/>
          </a:p>
        </p:txBody>
      </p:sp>
      <p:sp>
        <p:nvSpPr>
          <p:cNvPr id="17" name="Text 14"/>
          <p:cNvSpPr/>
          <p:nvPr/>
        </p:nvSpPr>
        <p:spPr>
          <a:xfrm>
            <a:off x="73152" y="3368040"/>
            <a:ext cx="640080" cy="204216"/>
          </a:xfrm>
          <a:prstGeom prst="rect">
            <a:avLst/>
          </a:prstGeom>
          <a:solidFill>
            <a:srgbClr val="E6F0FA"/>
          </a:solidFill>
          <a:ln w="6350">
            <a:solidFill>
              <a:srgbClr val="1F4E9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51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</a:t>
            </a:r>
            <a:endParaRPr lang="en-US" sz="510" dirty="0"/>
          </a:p>
        </p:txBody>
      </p:sp>
      <p:sp>
        <p:nvSpPr>
          <p:cNvPr id="18" name="Text 15"/>
          <p:cNvSpPr/>
          <p:nvPr/>
        </p:nvSpPr>
        <p:spPr>
          <a:xfrm>
            <a:off x="713232" y="3368040"/>
            <a:ext cx="1719072" cy="204216"/>
          </a:xfrm>
          <a:prstGeom prst="rect">
            <a:avLst/>
          </a:prstGeom>
          <a:solidFill>
            <a:srgbClr val="E6F0FA"/>
          </a:solidFill>
          <a:ln w="6350">
            <a:solidFill>
              <a:srgbClr val="1F4E9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1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Adults who underwent total hip or total knee arthroplasty</a:t>
            </a:r>
            <a:endParaRPr lang="en-US" sz="510" dirty="0"/>
          </a:p>
        </p:txBody>
      </p:sp>
      <p:sp>
        <p:nvSpPr>
          <p:cNvPr id="19" name="Text 16"/>
          <p:cNvSpPr/>
          <p:nvPr/>
        </p:nvSpPr>
        <p:spPr>
          <a:xfrm>
            <a:off x="73152" y="3572256"/>
            <a:ext cx="640080" cy="204216"/>
          </a:xfrm>
          <a:prstGeom prst="rect">
            <a:avLst/>
          </a:prstGeom>
          <a:solidFill>
            <a:srgbClr val="FFFFFF"/>
          </a:solidFill>
          <a:ln w="6350">
            <a:solidFill>
              <a:srgbClr val="1F4E9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51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frame</a:t>
            </a:r>
            <a:endParaRPr lang="en-US" sz="510" dirty="0"/>
          </a:p>
        </p:txBody>
      </p:sp>
      <p:sp>
        <p:nvSpPr>
          <p:cNvPr id="20" name="Text 17"/>
          <p:cNvSpPr/>
          <p:nvPr/>
        </p:nvSpPr>
        <p:spPr>
          <a:xfrm>
            <a:off x="713232" y="3572256"/>
            <a:ext cx="1719072" cy="204216"/>
          </a:xfrm>
          <a:prstGeom prst="rect">
            <a:avLst/>
          </a:prstGeom>
          <a:solidFill>
            <a:srgbClr val="FFFFFF"/>
          </a:solidFill>
          <a:ln w="6350">
            <a:solidFill>
              <a:srgbClr val="1F4E9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1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January 1, 2026 to August 1, 2026</a:t>
            </a:r>
            <a:endParaRPr lang="en-US" sz="510" dirty="0"/>
          </a:p>
        </p:txBody>
      </p:sp>
      <p:sp>
        <p:nvSpPr>
          <p:cNvPr id="21" name="Text 18"/>
          <p:cNvSpPr/>
          <p:nvPr/>
        </p:nvSpPr>
        <p:spPr>
          <a:xfrm>
            <a:off x="73152" y="3776472"/>
            <a:ext cx="640080" cy="204216"/>
          </a:xfrm>
          <a:prstGeom prst="rect">
            <a:avLst/>
          </a:prstGeom>
          <a:solidFill>
            <a:srgbClr val="E6F0FA"/>
          </a:solidFill>
          <a:ln w="6350">
            <a:solidFill>
              <a:srgbClr val="1F4E9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51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</a:t>
            </a:r>
            <a:endParaRPr lang="en-US" sz="510" dirty="0"/>
          </a:p>
        </p:txBody>
      </p:sp>
      <p:sp>
        <p:nvSpPr>
          <p:cNvPr id="22" name="Text 19"/>
          <p:cNvSpPr/>
          <p:nvPr/>
        </p:nvSpPr>
        <p:spPr>
          <a:xfrm>
            <a:off x="713232" y="3776472"/>
            <a:ext cx="1719072" cy="204216"/>
          </a:xfrm>
          <a:prstGeom prst="rect">
            <a:avLst/>
          </a:prstGeom>
          <a:solidFill>
            <a:srgbClr val="E6F0FA"/>
          </a:solidFill>
          <a:ln w="6350">
            <a:solidFill>
              <a:srgbClr val="1F4E9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1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EHR medication records, orthopedic power plans, discharge records, surgery documentation, labs, ED/readmission records</a:t>
            </a:r>
            <a:endParaRPr lang="en-US" sz="510" dirty="0"/>
          </a:p>
        </p:txBody>
      </p:sp>
      <p:sp>
        <p:nvSpPr>
          <p:cNvPr id="23" name="Text 20"/>
          <p:cNvSpPr/>
          <p:nvPr/>
        </p:nvSpPr>
        <p:spPr>
          <a:xfrm>
            <a:off x="73152" y="3980688"/>
            <a:ext cx="640080" cy="204216"/>
          </a:xfrm>
          <a:prstGeom prst="rect">
            <a:avLst/>
          </a:prstGeom>
          <a:solidFill>
            <a:srgbClr val="FFFFFF"/>
          </a:solidFill>
          <a:ln w="6350">
            <a:solidFill>
              <a:srgbClr val="1F4E9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51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outcome</a:t>
            </a:r>
            <a:endParaRPr lang="en-US" sz="510" dirty="0"/>
          </a:p>
        </p:txBody>
      </p:sp>
      <p:sp>
        <p:nvSpPr>
          <p:cNvPr id="24" name="Text 21"/>
          <p:cNvSpPr/>
          <p:nvPr/>
        </p:nvSpPr>
        <p:spPr>
          <a:xfrm>
            <a:off x="713232" y="3980688"/>
            <a:ext cx="1719072" cy="204216"/>
          </a:xfrm>
          <a:prstGeom prst="rect">
            <a:avLst/>
          </a:prstGeom>
          <a:solidFill>
            <a:srgbClr val="FFFFFF"/>
          </a:solidFill>
          <a:ln w="6350">
            <a:solidFill>
              <a:srgbClr val="1F4E9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1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apixaban dose and total duration</a:t>
            </a:r>
            <a:endParaRPr lang="en-US" sz="510" dirty="0"/>
          </a:p>
        </p:txBody>
      </p:sp>
      <p:sp>
        <p:nvSpPr>
          <p:cNvPr id="25" name="Text 22"/>
          <p:cNvSpPr/>
          <p:nvPr/>
        </p:nvSpPr>
        <p:spPr>
          <a:xfrm>
            <a:off x="73152" y="4184904"/>
            <a:ext cx="640080" cy="204216"/>
          </a:xfrm>
          <a:prstGeom prst="rect">
            <a:avLst/>
          </a:prstGeom>
          <a:solidFill>
            <a:srgbClr val="E6F0FA"/>
          </a:solidFill>
          <a:ln w="6350">
            <a:solidFill>
              <a:srgbClr val="1F4E9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51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Exclusions</a:t>
            </a:r>
            <a:endParaRPr lang="en-US" sz="510" dirty="0"/>
          </a:p>
        </p:txBody>
      </p:sp>
      <p:sp>
        <p:nvSpPr>
          <p:cNvPr id="26" name="Text 23"/>
          <p:cNvSpPr/>
          <p:nvPr/>
        </p:nvSpPr>
        <p:spPr>
          <a:xfrm>
            <a:off x="713232" y="4184904"/>
            <a:ext cx="1719072" cy="204216"/>
          </a:xfrm>
          <a:prstGeom prst="rect">
            <a:avLst/>
          </a:prstGeom>
          <a:solidFill>
            <a:srgbClr val="E6F0FA"/>
          </a:solidFill>
          <a:ln w="6350">
            <a:solidFill>
              <a:srgbClr val="1F4E9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51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apixaban indication, chronic therapeutic anticoagulation, acute DVT/PE during admission, other orthopedic procedures, transfer</a:t>
            </a:r>
            <a:endParaRPr lang="en-US" sz="510" dirty="0"/>
          </a:p>
        </p:txBody>
      </p:sp>
      <p:sp>
        <p:nvSpPr>
          <p:cNvPr id="27" name="Text 24"/>
          <p:cNvSpPr/>
          <p:nvPr/>
        </p:nvSpPr>
        <p:spPr>
          <a:xfrm>
            <a:off x="109728" y="4462272"/>
            <a:ext cx="2267712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540" b="1" dirty="0">
                <a:solidFill>
                  <a:srgbClr val="00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therapy: apixaban 2.5 mg by mouth twice daily for 35 days after hip replacement or 12 days after knee replacement.</a:t>
            </a:r>
            <a:endParaRPr lang="en-US" sz="540" dirty="0"/>
          </a:p>
        </p:txBody>
      </p:sp>
      <p:sp>
        <p:nvSpPr>
          <p:cNvPr id="28" name="Text 25"/>
          <p:cNvSpPr/>
          <p:nvPr/>
        </p:nvSpPr>
        <p:spPr>
          <a:xfrm>
            <a:off x="2679192" y="896112"/>
            <a:ext cx="4187952" cy="201168"/>
          </a:xfrm>
          <a:prstGeom prst="rect">
            <a:avLst/>
          </a:prstGeom>
          <a:solidFill>
            <a:srgbClr val="1F4E99"/>
          </a:solidFill>
          <a:ln w="6350">
            <a:solidFill>
              <a:srgbClr val="1F4E9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2615184" y="1161288"/>
            <a:ext cx="1280160" cy="153162"/>
          </a:xfrm>
          <a:prstGeom prst="rect">
            <a:avLst/>
          </a:prstGeom>
          <a:solidFill>
            <a:srgbClr val="003A66"/>
          </a:solidFill>
          <a:ln w="6350">
            <a:solidFill>
              <a:srgbClr val="1F4E9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4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1. Baseline Characteristics (n=81)</a:t>
            </a:r>
            <a:endParaRPr lang="en-US" sz="480" dirty="0"/>
          </a:p>
        </p:txBody>
      </p:sp>
      <p:sp>
        <p:nvSpPr>
          <p:cNvPr id="30" name="Text 27"/>
          <p:cNvSpPr/>
          <p:nvPr/>
        </p:nvSpPr>
        <p:spPr>
          <a:xfrm>
            <a:off x="3895344" y="1161288"/>
            <a:ext cx="713232" cy="153162"/>
          </a:xfrm>
          <a:prstGeom prst="rect">
            <a:avLst/>
          </a:prstGeom>
          <a:solidFill>
            <a:srgbClr val="003A66"/>
          </a:solidFill>
          <a:ln w="6350">
            <a:solidFill>
              <a:srgbClr val="1F4E9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endParaRPr lang="en-US" sz="480" dirty="0"/>
          </a:p>
        </p:txBody>
      </p:sp>
      <p:sp>
        <p:nvSpPr>
          <p:cNvPr id="31" name="Text 28"/>
          <p:cNvSpPr/>
          <p:nvPr/>
        </p:nvSpPr>
        <p:spPr>
          <a:xfrm>
            <a:off x="2615184" y="1314450"/>
            <a:ext cx="1280160" cy="153162"/>
          </a:xfrm>
          <a:prstGeom prst="rect">
            <a:avLst/>
          </a:prstGeom>
          <a:solidFill>
            <a:srgbClr val="E6F0FA"/>
          </a:solidFill>
          <a:ln w="6350">
            <a:solidFill>
              <a:srgbClr val="1F4E9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48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age, years (IQR)</a:t>
            </a:r>
            <a:endParaRPr lang="en-US" sz="480" dirty="0"/>
          </a:p>
        </p:txBody>
      </p:sp>
      <p:sp>
        <p:nvSpPr>
          <p:cNvPr id="32" name="Text 29"/>
          <p:cNvSpPr/>
          <p:nvPr/>
        </p:nvSpPr>
        <p:spPr>
          <a:xfrm>
            <a:off x="3895344" y="1314450"/>
            <a:ext cx="713232" cy="153162"/>
          </a:xfrm>
          <a:prstGeom prst="rect">
            <a:avLst/>
          </a:prstGeom>
          <a:solidFill>
            <a:srgbClr val="E6F0FA"/>
          </a:solidFill>
          <a:ln w="6350">
            <a:solidFill>
              <a:srgbClr val="1F4E9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4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 (65–80)</a:t>
            </a:r>
            <a:endParaRPr lang="en-US" sz="480" dirty="0"/>
          </a:p>
        </p:txBody>
      </p:sp>
      <p:sp>
        <p:nvSpPr>
          <p:cNvPr id="33" name="Text 30"/>
          <p:cNvSpPr/>
          <p:nvPr/>
        </p:nvSpPr>
        <p:spPr>
          <a:xfrm>
            <a:off x="2615184" y="1467612"/>
            <a:ext cx="1280160" cy="153162"/>
          </a:xfrm>
          <a:prstGeom prst="rect">
            <a:avLst/>
          </a:prstGeom>
          <a:solidFill>
            <a:srgbClr val="FFFFFF"/>
          </a:solidFill>
          <a:ln w="6350">
            <a:solidFill>
              <a:srgbClr val="1F4E9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48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BMI, kg/m² (IQR)</a:t>
            </a:r>
            <a:endParaRPr lang="en-US" sz="480" dirty="0"/>
          </a:p>
        </p:txBody>
      </p:sp>
      <p:sp>
        <p:nvSpPr>
          <p:cNvPr id="34" name="Text 31"/>
          <p:cNvSpPr/>
          <p:nvPr/>
        </p:nvSpPr>
        <p:spPr>
          <a:xfrm>
            <a:off x="3895344" y="1467612"/>
            <a:ext cx="713232" cy="153162"/>
          </a:xfrm>
          <a:prstGeom prst="rect">
            <a:avLst/>
          </a:prstGeom>
          <a:solidFill>
            <a:srgbClr val="FFFFFF"/>
          </a:solidFill>
          <a:ln w="6350">
            <a:solidFill>
              <a:srgbClr val="1F4E9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4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29.7 (26.1–36.4)</a:t>
            </a:r>
            <a:endParaRPr lang="en-US" sz="480" dirty="0"/>
          </a:p>
        </p:txBody>
      </p:sp>
      <p:sp>
        <p:nvSpPr>
          <p:cNvPr id="35" name="Text 32"/>
          <p:cNvSpPr/>
          <p:nvPr/>
        </p:nvSpPr>
        <p:spPr>
          <a:xfrm>
            <a:off x="2615184" y="1620774"/>
            <a:ext cx="1280160" cy="153162"/>
          </a:xfrm>
          <a:prstGeom prst="rect">
            <a:avLst/>
          </a:prstGeom>
          <a:solidFill>
            <a:srgbClr val="E6F0FA"/>
          </a:solidFill>
          <a:ln w="6350">
            <a:solidFill>
              <a:srgbClr val="1F4E9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48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Female sex</a:t>
            </a:r>
            <a:endParaRPr lang="en-US" sz="480" dirty="0"/>
          </a:p>
        </p:txBody>
      </p:sp>
      <p:sp>
        <p:nvSpPr>
          <p:cNvPr id="36" name="Text 33"/>
          <p:cNvSpPr/>
          <p:nvPr/>
        </p:nvSpPr>
        <p:spPr>
          <a:xfrm>
            <a:off x="3895344" y="1620774"/>
            <a:ext cx="713232" cy="153162"/>
          </a:xfrm>
          <a:prstGeom prst="rect">
            <a:avLst/>
          </a:prstGeom>
          <a:solidFill>
            <a:srgbClr val="E6F0FA"/>
          </a:solidFill>
          <a:ln w="6350">
            <a:solidFill>
              <a:srgbClr val="1F4E9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4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(55.6)</a:t>
            </a:r>
            <a:endParaRPr lang="en-US" sz="480" dirty="0"/>
          </a:p>
        </p:txBody>
      </p:sp>
      <p:sp>
        <p:nvSpPr>
          <p:cNvPr id="37" name="Text 34"/>
          <p:cNvSpPr/>
          <p:nvPr/>
        </p:nvSpPr>
        <p:spPr>
          <a:xfrm>
            <a:off x="2615184" y="1773936"/>
            <a:ext cx="1280160" cy="153162"/>
          </a:xfrm>
          <a:prstGeom prst="rect">
            <a:avLst/>
          </a:prstGeom>
          <a:solidFill>
            <a:srgbClr val="FFFFFF"/>
          </a:solidFill>
          <a:ln w="6350">
            <a:solidFill>
              <a:srgbClr val="1F4E9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48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Knee procedure</a:t>
            </a:r>
            <a:endParaRPr lang="en-US" sz="480" dirty="0"/>
          </a:p>
        </p:txBody>
      </p:sp>
      <p:sp>
        <p:nvSpPr>
          <p:cNvPr id="38" name="Text 35"/>
          <p:cNvSpPr/>
          <p:nvPr/>
        </p:nvSpPr>
        <p:spPr>
          <a:xfrm>
            <a:off x="3895344" y="1773936"/>
            <a:ext cx="713232" cy="153162"/>
          </a:xfrm>
          <a:prstGeom prst="rect">
            <a:avLst/>
          </a:prstGeom>
          <a:solidFill>
            <a:srgbClr val="FFFFFF"/>
          </a:solidFill>
          <a:ln w="6350">
            <a:solidFill>
              <a:srgbClr val="1F4E9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4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 (45.7)</a:t>
            </a:r>
            <a:endParaRPr lang="en-US" sz="480" dirty="0"/>
          </a:p>
        </p:txBody>
      </p:sp>
      <p:sp>
        <p:nvSpPr>
          <p:cNvPr id="39" name="Text 36"/>
          <p:cNvSpPr/>
          <p:nvPr/>
        </p:nvSpPr>
        <p:spPr>
          <a:xfrm>
            <a:off x="2615184" y="1927098"/>
            <a:ext cx="1280160" cy="153162"/>
          </a:xfrm>
          <a:prstGeom prst="rect">
            <a:avLst/>
          </a:prstGeom>
          <a:solidFill>
            <a:srgbClr val="E6F0FA"/>
          </a:solidFill>
          <a:ln w="6350">
            <a:solidFill>
              <a:srgbClr val="1F4E9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48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 procedure</a:t>
            </a:r>
            <a:endParaRPr lang="en-US" sz="480" dirty="0"/>
          </a:p>
        </p:txBody>
      </p:sp>
      <p:sp>
        <p:nvSpPr>
          <p:cNvPr id="40" name="Text 37"/>
          <p:cNvSpPr/>
          <p:nvPr/>
        </p:nvSpPr>
        <p:spPr>
          <a:xfrm>
            <a:off x="3895344" y="1927098"/>
            <a:ext cx="713232" cy="153162"/>
          </a:xfrm>
          <a:prstGeom prst="rect">
            <a:avLst/>
          </a:prstGeom>
          <a:solidFill>
            <a:srgbClr val="E6F0FA"/>
          </a:solidFill>
          <a:ln w="6350">
            <a:solidFill>
              <a:srgbClr val="1F4E9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4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 (54.3)</a:t>
            </a:r>
            <a:endParaRPr lang="en-US" sz="480" dirty="0"/>
          </a:p>
        </p:txBody>
      </p:sp>
      <p:sp>
        <p:nvSpPr>
          <p:cNvPr id="41" name="Text 38"/>
          <p:cNvSpPr/>
          <p:nvPr/>
        </p:nvSpPr>
        <p:spPr>
          <a:xfrm>
            <a:off x="2615184" y="2080260"/>
            <a:ext cx="1280160" cy="153162"/>
          </a:xfrm>
          <a:prstGeom prst="rect">
            <a:avLst/>
          </a:prstGeom>
          <a:solidFill>
            <a:srgbClr val="FFFFFF"/>
          </a:solidFill>
          <a:ln w="6350">
            <a:solidFill>
              <a:srgbClr val="1F4E9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48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procedure</a:t>
            </a:r>
            <a:endParaRPr lang="en-US" sz="480" dirty="0"/>
          </a:p>
        </p:txBody>
      </p:sp>
      <p:sp>
        <p:nvSpPr>
          <p:cNvPr id="42" name="Text 39"/>
          <p:cNvSpPr/>
          <p:nvPr/>
        </p:nvSpPr>
        <p:spPr>
          <a:xfrm>
            <a:off x="3895344" y="2080260"/>
            <a:ext cx="713232" cy="153162"/>
          </a:xfrm>
          <a:prstGeom prst="rect">
            <a:avLst/>
          </a:prstGeom>
          <a:solidFill>
            <a:srgbClr val="FFFFFF"/>
          </a:solidFill>
          <a:ln w="6350">
            <a:solidFill>
              <a:srgbClr val="1F4E9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4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 (86.4)</a:t>
            </a:r>
            <a:endParaRPr lang="en-US" sz="480" dirty="0"/>
          </a:p>
        </p:txBody>
      </p:sp>
      <p:sp>
        <p:nvSpPr>
          <p:cNvPr id="43" name="Text 40"/>
          <p:cNvSpPr/>
          <p:nvPr/>
        </p:nvSpPr>
        <p:spPr>
          <a:xfrm>
            <a:off x="2615184" y="2233422"/>
            <a:ext cx="1280160" cy="153162"/>
          </a:xfrm>
          <a:prstGeom prst="rect">
            <a:avLst/>
          </a:prstGeom>
          <a:solidFill>
            <a:srgbClr val="E6F0FA"/>
          </a:solidFill>
          <a:ln w="6350">
            <a:solidFill>
              <a:srgbClr val="1F4E9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48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Revision procedure</a:t>
            </a:r>
            <a:endParaRPr lang="en-US" sz="480" dirty="0"/>
          </a:p>
        </p:txBody>
      </p:sp>
      <p:sp>
        <p:nvSpPr>
          <p:cNvPr id="44" name="Text 41"/>
          <p:cNvSpPr/>
          <p:nvPr/>
        </p:nvSpPr>
        <p:spPr>
          <a:xfrm>
            <a:off x="3895344" y="2233422"/>
            <a:ext cx="713232" cy="153162"/>
          </a:xfrm>
          <a:prstGeom prst="rect">
            <a:avLst/>
          </a:prstGeom>
          <a:solidFill>
            <a:srgbClr val="E6F0FA"/>
          </a:solidFill>
          <a:ln w="6350">
            <a:solidFill>
              <a:srgbClr val="1F4E9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4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(13.6)</a:t>
            </a:r>
            <a:endParaRPr lang="en-US" sz="480" dirty="0"/>
          </a:p>
        </p:txBody>
      </p:sp>
      <p:sp>
        <p:nvSpPr>
          <p:cNvPr id="45" name="Text 42"/>
          <p:cNvSpPr/>
          <p:nvPr/>
        </p:nvSpPr>
        <p:spPr>
          <a:xfrm>
            <a:off x="4773168" y="1161288"/>
            <a:ext cx="1335024" cy="153162"/>
          </a:xfrm>
          <a:prstGeom prst="rect">
            <a:avLst/>
          </a:prstGeom>
          <a:solidFill>
            <a:srgbClr val="003A66"/>
          </a:solidFill>
          <a:ln w="6350">
            <a:solidFill>
              <a:srgbClr val="1F4E9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4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2. Apixaban Use (n=81)</a:t>
            </a:r>
            <a:endParaRPr lang="en-US" sz="480" dirty="0"/>
          </a:p>
        </p:txBody>
      </p:sp>
      <p:sp>
        <p:nvSpPr>
          <p:cNvPr id="46" name="Text 43"/>
          <p:cNvSpPr/>
          <p:nvPr/>
        </p:nvSpPr>
        <p:spPr>
          <a:xfrm>
            <a:off x="6108192" y="1161288"/>
            <a:ext cx="694944" cy="153162"/>
          </a:xfrm>
          <a:prstGeom prst="rect">
            <a:avLst/>
          </a:prstGeom>
          <a:solidFill>
            <a:srgbClr val="003A66"/>
          </a:solidFill>
          <a:ln w="6350">
            <a:solidFill>
              <a:srgbClr val="1F4E9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endParaRPr lang="en-US" sz="480" dirty="0"/>
          </a:p>
        </p:txBody>
      </p:sp>
      <p:sp>
        <p:nvSpPr>
          <p:cNvPr id="47" name="Text 44"/>
          <p:cNvSpPr/>
          <p:nvPr/>
        </p:nvSpPr>
        <p:spPr>
          <a:xfrm>
            <a:off x="4773168" y="1314450"/>
            <a:ext cx="1335024" cy="153162"/>
          </a:xfrm>
          <a:prstGeom prst="rect">
            <a:avLst/>
          </a:prstGeom>
          <a:solidFill>
            <a:srgbClr val="E6F0FA"/>
          </a:solidFill>
          <a:ln w="6350">
            <a:solidFill>
              <a:srgbClr val="1F4E9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48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Indication documented</a:t>
            </a:r>
            <a:endParaRPr lang="en-US" sz="480" dirty="0"/>
          </a:p>
        </p:txBody>
      </p:sp>
      <p:sp>
        <p:nvSpPr>
          <p:cNvPr id="48" name="Text 45"/>
          <p:cNvSpPr/>
          <p:nvPr/>
        </p:nvSpPr>
        <p:spPr>
          <a:xfrm>
            <a:off x="6108192" y="1314450"/>
            <a:ext cx="694944" cy="153162"/>
          </a:xfrm>
          <a:prstGeom prst="rect">
            <a:avLst/>
          </a:prstGeom>
          <a:solidFill>
            <a:srgbClr val="E6F0FA"/>
          </a:solidFill>
          <a:ln w="6350">
            <a:solidFill>
              <a:srgbClr val="1F4E9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4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 (100.0)</a:t>
            </a:r>
            <a:endParaRPr lang="en-US" sz="480" dirty="0"/>
          </a:p>
        </p:txBody>
      </p:sp>
      <p:sp>
        <p:nvSpPr>
          <p:cNvPr id="49" name="Text 46"/>
          <p:cNvSpPr/>
          <p:nvPr/>
        </p:nvSpPr>
        <p:spPr>
          <a:xfrm>
            <a:off x="4773168" y="1467612"/>
            <a:ext cx="1335024" cy="153162"/>
          </a:xfrm>
          <a:prstGeom prst="rect">
            <a:avLst/>
          </a:prstGeom>
          <a:solidFill>
            <a:srgbClr val="FFFFFF"/>
          </a:solidFill>
          <a:ln w="6350">
            <a:solidFill>
              <a:srgbClr val="1F4E9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48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Dose appropriate</a:t>
            </a:r>
            <a:endParaRPr lang="en-US" sz="480" dirty="0"/>
          </a:p>
        </p:txBody>
      </p:sp>
      <p:sp>
        <p:nvSpPr>
          <p:cNvPr id="50" name="Text 47"/>
          <p:cNvSpPr/>
          <p:nvPr/>
        </p:nvSpPr>
        <p:spPr>
          <a:xfrm>
            <a:off x="6108192" y="1467612"/>
            <a:ext cx="694944" cy="153162"/>
          </a:xfrm>
          <a:prstGeom prst="rect">
            <a:avLst/>
          </a:prstGeom>
          <a:solidFill>
            <a:srgbClr val="FFFFFF"/>
          </a:solidFill>
          <a:ln w="6350">
            <a:solidFill>
              <a:srgbClr val="1F4E9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4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 (100.0)</a:t>
            </a:r>
            <a:endParaRPr lang="en-US" sz="480" dirty="0"/>
          </a:p>
        </p:txBody>
      </p:sp>
      <p:sp>
        <p:nvSpPr>
          <p:cNvPr id="51" name="Text 48"/>
          <p:cNvSpPr/>
          <p:nvPr/>
        </p:nvSpPr>
        <p:spPr>
          <a:xfrm>
            <a:off x="4773168" y="1620774"/>
            <a:ext cx="1335024" cy="153162"/>
          </a:xfrm>
          <a:prstGeom prst="rect">
            <a:avLst/>
          </a:prstGeom>
          <a:solidFill>
            <a:srgbClr val="E6F0FA"/>
          </a:solidFill>
          <a:ln w="6350">
            <a:solidFill>
              <a:srgbClr val="1F4E9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48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 recommended</a:t>
            </a:r>
            <a:endParaRPr lang="en-US" sz="480" dirty="0"/>
          </a:p>
        </p:txBody>
      </p:sp>
      <p:sp>
        <p:nvSpPr>
          <p:cNvPr id="52" name="Text 49"/>
          <p:cNvSpPr/>
          <p:nvPr/>
        </p:nvSpPr>
        <p:spPr>
          <a:xfrm>
            <a:off x="6108192" y="1620774"/>
            <a:ext cx="694944" cy="153162"/>
          </a:xfrm>
          <a:prstGeom prst="rect">
            <a:avLst/>
          </a:prstGeom>
          <a:solidFill>
            <a:srgbClr val="E6F0FA"/>
          </a:solidFill>
          <a:ln w="6350">
            <a:solidFill>
              <a:srgbClr val="1F4E9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4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(12.3)</a:t>
            </a:r>
            <a:endParaRPr lang="en-US" sz="480" dirty="0"/>
          </a:p>
        </p:txBody>
      </p:sp>
      <p:sp>
        <p:nvSpPr>
          <p:cNvPr id="53" name="Text 50"/>
          <p:cNvSpPr/>
          <p:nvPr/>
        </p:nvSpPr>
        <p:spPr>
          <a:xfrm>
            <a:off x="4773168" y="1773936"/>
            <a:ext cx="1335024" cy="153162"/>
          </a:xfrm>
          <a:prstGeom prst="rect">
            <a:avLst/>
          </a:prstGeom>
          <a:solidFill>
            <a:srgbClr val="FFFFFF"/>
          </a:solidFill>
          <a:ln w="6350">
            <a:solidFill>
              <a:srgbClr val="1F4E9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48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 longer than recommended</a:t>
            </a:r>
            <a:endParaRPr lang="en-US" sz="480" dirty="0"/>
          </a:p>
        </p:txBody>
      </p:sp>
      <p:sp>
        <p:nvSpPr>
          <p:cNvPr id="54" name="Text 51"/>
          <p:cNvSpPr/>
          <p:nvPr/>
        </p:nvSpPr>
        <p:spPr>
          <a:xfrm>
            <a:off x="6108192" y="1773936"/>
            <a:ext cx="694944" cy="153162"/>
          </a:xfrm>
          <a:prstGeom prst="rect">
            <a:avLst/>
          </a:prstGeom>
          <a:solidFill>
            <a:srgbClr val="FFFFFF"/>
          </a:solidFill>
          <a:ln w="6350">
            <a:solidFill>
              <a:srgbClr val="1F4E9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4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(49.4)</a:t>
            </a:r>
            <a:endParaRPr lang="en-US" sz="480" dirty="0"/>
          </a:p>
        </p:txBody>
      </p:sp>
      <p:sp>
        <p:nvSpPr>
          <p:cNvPr id="55" name="Text 52"/>
          <p:cNvSpPr/>
          <p:nvPr/>
        </p:nvSpPr>
        <p:spPr>
          <a:xfrm>
            <a:off x="4773168" y="1927098"/>
            <a:ext cx="1335024" cy="153162"/>
          </a:xfrm>
          <a:prstGeom prst="rect">
            <a:avLst/>
          </a:prstGeom>
          <a:solidFill>
            <a:srgbClr val="E6F0FA"/>
          </a:solidFill>
          <a:ln w="6350">
            <a:solidFill>
              <a:srgbClr val="1F4E9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48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 shorter than recommended</a:t>
            </a:r>
            <a:endParaRPr lang="en-US" sz="480" dirty="0"/>
          </a:p>
        </p:txBody>
      </p:sp>
      <p:sp>
        <p:nvSpPr>
          <p:cNvPr id="56" name="Text 53"/>
          <p:cNvSpPr/>
          <p:nvPr/>
        </p:nvSpPr>
        <p:spPr>
          <a:xfrm>
            <a:off x="6108192" y="1927098"/>
            <a:ext cx="694944" cy="153162"/>
          </a:xfrm>
          <a:prstGeom prst="rect">
            <a:avLst/>
          </a:prstGeom>
          <a:solidFill>
            <a:srgbClr val="E6F0FA"/>
          </a:solidFill>
          <a:ln w="6350">
            <a:solidFill>
              <a:srgbClr val="1F4E9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4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(38.3)</a:t>
            </a:r>
            <a:endParaRPr lang="en-US" sz="480" dirty="0"/>
          </a:p>
        </p:txBody>
      </p:sp>
      <p:sp>
        <p:nvSpPr>
          <p:cNvPr id="57" name="Text 54"/>
          <p:cNvSpPr/>
          <p:nvPr/>
        </p:nvSpPr>
        <p:spPr>
          <a:xfrm>
            <a:off x="4773168" y="2080260"/>
            <a:ext cx="1335024" cy="153162"/>
          </a:xfrm>
          <a:prstGeom prst="rect">
            <a:avLst/>
          </a:prstGeom>
          <a:solidFill>
            <a:srgbClr val="FFFFFF"/>
          </a:solidFill>
          <a:ln w="6350">
            <a:solidFill>
              <a:srgbClr val="1F4E9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48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treatment duration, days</a:t>
            </a:r>
            <a:endParaRPr lang="en-US" sz="480" dirty="0"/>
          </a:p>
        </p:txBody>
      </p:sp>
      <p:sp>
        <p:nvSpPr>
          <p:cNvPr id="58" name="Text 55"/>
          <p:cNvSpPr/>
          <p:nvPr/>
        </p:nvSpPr>
        <p:spPr>
          <a:xfrm>
            <a:off x="6108192" y="2080260"/>
            <a:ext cx="694944" cy="153162"/>
          </a:xfrm>
          <a:prstGeom prst="rect">
            <a:avLst/>
          </a:prstGeom>
          <a:solidFill>
            <a:srgbClr val="FFFFFF"/>
          </a:solidFill>
          <a:ln w="6350">
            <a:solidFill>
              <a:srgbClr val="1F4E9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4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(30–35)</a:t>
            </a:r>
            <a:endParaRPr lang="en-US" sz="480" dirty="0"/>
          </a:p>
        </p:txBody>
      </p:sp>
      <p:sp>
        <p:nvSpPr>
          <p:cNvPr id="59" name="Text 56"/>
          <p:cNvSpPr/>
          <p:nvPr/>
        </p:nvSpPr>
        <p:spPr>
          <a:xfrm>
            <a:off x="4773168" y="2233422"/>
            <a:ext cx="1335024" cy="153162"/>
          </a:xfrm>
          <a:prstGeom prst="rect">
            <a:avLst/>
          </a:prstGeom>
          <a:solidFill>
            <a:srgbClr val="E6F0FA"/>
          </a:solidFill>
          <a:ln w="6350">
            <a:solidFill>
              <a:srgbClr val="1F4E9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48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Prescription with ≥1 refill</a:t>
            </a:r>
            <a:endParaRPr lang="en-US" sz="480" dirty="0"/>
          </a:p>
        </p:txBody>
      </p:sp>
      <p:sp>
        <p:nvSpPr>
          <p:cNvPr id="60" name="Text 57"/>
          <p:cNvSpPr/>
          <p:nvPr/>
        </p:nvSpPr>
        <p:spPr>
          <a:xfrm>
            <a:off x="6108192" y="2233422"/>
            <a:ext cx="694944" cy="153162"/>
          </a:xfrm>
          <a:prstGeom prst="rect">
            <a:avLst/>
          </a:prstGeom>
          <a:solidFill>
            <a:srgbClr val="E6F0FA"/>
          </a:solidFill>
          <a:ln w="6350">
            <a:solidFill>
              <a:srgbClr val="1F4E9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4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(0.0)</a:t>
            </a:r>
            <a:endParaRPr lang="en-US" sz="480" dirty="0"/>
          </a:p>
        </p:txBody>
      </p:sp>
      <p:sp>
        <p:nvSpPr>
          <p:cNvPr id="61" name="Text 58"/>
          <p:cNvSpPr/>
          <p:nvPr/>
        </p:nvSpPr>
        <p:spPr>
          <a:xfrm>
            <a:off x="2633472" y="2450592"/>
            <a:ext cx="4160520" cy="429768"/>
          </a:xfrm>
          <a:prstGeom prst="rect">
            <a:avLst/>
          </a:prstGeom>
          <a:solidFill>
            <a:srgbClr val="DDEBF7"/>
          </a:solidFill>
          <a:ln w="6350">
            <a:solidFill>
              <a:srgbClr val="1F4E99"/>
            </a:solidFill>
          </a:ln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610" b="1" dirty="0">
                <a:solidFill>
                  <a:srgbClr val="00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Apixaban dosing was correct in 100% of patients, while only 12.3% received the recommended treatment duration. All identified deviations were related to treatment duration.</a:t>
            </a:r>
            <a:endParaRPr lang="en-US" sz="610" dirty="0"/>
          </a:p>
        </p:txBody>
      </p:sp>
      <p:pic>
        <p:nvPicPr>
          <p:cNvPr id="62" name="Image 1" descr="/mnt/data/sbar_unzip/word/media/imag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7211" y="2926080"/>
            <a:ext cx="1942186" cy="1078992"/>
          </a:xfrm>
          <a:prstGeom prst="rect">
            <a:avLst/>
          </a:prstGeom>
        </p:spPr>
      </p:pic>
      <p:pic>
        <p:nvPicPr>
          <p:cNvPr id="63" name="Image 2" descr="/mnt/data/sbar_unzip/word/media/image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2656" y="4041648"/>
            <a:ext cx="1280160" cy="768096"/>
          </a:xfrm>
          <a:prstGeom prst="rect">
            <a:avLst/>
          </a:prstGeom>
        </p:spPr>
      </p:pic>
      <p:pic>
        <p:nvPicPr>
          <p:cNvPr id="64" name="Image 3" descr="/mnt/data/sbar_unzip/word/media/image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6010" y="4041648"/>
            <a:ext cx="1382573" cy="768096"/>
          </a:xfrm>
          <a:prstGeom prst="rect">
            <a:avLst/>
          </a:prstGeom>
        </p:spPr>
      </p:pic>
      <p:sp>
        <p:nvSpPr>
          <p:cNvPr id="65" name="Text 59"/>
          <p:cNvSpPr/>
          <p:nvPr/>
        </p:nvSpPr>
        <p:spPr>
          <a:xfrm>
            <a:off x="7205472" y="896112"/>
            <a:ext cx="1828800" cy="201168"/>
          </a:xfrm>
          <a:prstGeom prst="rect">
            <a:avLst/>
          </a:prstGeom>
          <a:solidFill>
            <a:srgbClr val="1F4E99"/>
          </a:solidFill>
          <a:ln w="6350">
            <a:solidFill>
              <a:srgbClr val="1F4E9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150" dirty="0"/>
          </a:p>
        </p:txBody>
      </p:sp>
      <p:sp>
        <p:nvSpPr>
          <p:cNvPr id="66" name="Text 60"/>
          <p:cNvSpPr/>
          <p:nvPr/>
        </p:nvSpPr>
        <p:spPr>
          <a:xfrm>
            <a:off x="7242048" y="1143000"/>
            <a:ext cx="1755648" cy="1060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5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Among knee arthroplasty patients, 2.7% received the recommended duration; 81.1% received longer therapy and 16.2% received shorter therapy.</a:t>
            </a:r>
            <a:endParaRPr lang="en-US" sz="560" dirty="0"/>
          </a:p>
          <a:p>
            <a:r>
              <a:rPr lang="en-US" sz="5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Among hip arthroplasty patients, 20.5% received the recommended duration; 22.7% received longer therapy and 56.8% received shorter therapy.</a:t>
            </a:r>
            <a:endParaRPr lang="en-US" sz="560" dirty="0"/>
          </a:p>
          <a:p>
            <a:r>
              <a:rPr lang="en-US" sz="5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frequent use of a 30-day treatment duration for both procedures may explain these trends.</a:t>
            </a:r>
            <a:endParaRPr lang="en-US" sz="560" dirty="0"/>
          </a:p>
        </p:txBody>
      </p:sp>
      <p:sp>
        <p:nvSpPr>
          <p:cNvPr id="67" name="Text 61"/>
          <p:cNvSpPr/>
          <p:nvPr/>
        </p:nvSpPr>
        <p:spPr>
          <a:xfrm>
            <a:off x="7205472" y="2276856"/>
            <a:ext cx="1828800" cy="201168"/>
          </a:xfrm>
          <a:prstGeom prst="rect">
            <a:avLst/>
          </a:prstGeom>
          <a:solidFill>
            <a:srgbClr val="1F4E99"/>
          </a:solidFill>
          <a:ln w="6350">
            <a:solidFill>
              <a:srgbClr val="1F4E9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</a:t>
            </a:r>
            <a:endParaRPr lang="en-US" sz="1150" dirty="0"/>
          </a:p>
        </p:txBody>
      </p:sp>
      <p:sp>
        <p:nvSpPr>
          <p:cNvPr id="68" name="Text 62"/>
          <p:cNvSpPr/>
          <p:nvPr/>
        </p:nvSpPr>
        <p:spPr>
          <a:xfrm>
            <a:off x="7242048" y="2523744"/>
            <a:ext cx="1755648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5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Dose selection was consistent across the cohort, but treatment duration varied by procedure type.</a:t>
            </a:r>
            <a:endParaRPr lang="en-US" sz="550" dirty="0"/>
          </a:p>
          <a:p>
            <a:r>
              <a:rPr lang="en-US" sz="5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standardized 30-day duration may shorten therapy for hip arthroplasty and extend therapy for knee arthroplasty.</a:t>
            </a:r>
            <a:endParaRPr lang="en-US" sz="550" dirty="0"/>
          </a:p>
          <a:p>
            <a:r>
              <a:rPr lang="en-US" sz="5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Discharge prescription duration appears to be the main opportunity for improvement.</a:t>
            </a:r>
            <a:endParaRPr lang="en-US" sz="550" dirty="0"/>
          </a:p>
        </p:txBody>
      </p:sp>
      <p:sp>
        <p:nvSpPr>
          <p:cNvPr id="69" name="Text 63"/>
          <p:cNvSpPr/>
          <p:nvPr/>
        </p:nvSpPr>
        <p:spPr>
          <a:xfrm>
            <a:off x="7205472" y="3401568"/>
            <a:ext cx="1828800" cy="201168"/>
          </a:xfrm>
          <a:prstGeom prst="rect">
            <a:avLst/>
          </a:prstGeom>
          <a:solidFill>
            <a:srgbClr val="1F4E99"/>
          </a:solidFill>
          <a:ln w="6350">
            <a:solidFill>
              <a:srgbClr val="1F4E9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150" dirty="0"/>
          </a:p>
        </p:txBody>
      </p:sp>
      <p:sp>
        <p:nvSpPr>
          <p:cNvPr id="70" name="Text 64"/>
          <p:cNvSpPr/>
          <p:nvPr/>
        </p:nvSpPr>
        <p:spPr>
          <a:xfrm>
            <a:off x="7242048" y="3639312"/>
            <a:ext cx="175564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53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Apixaban dose selection was consistent with recommended therapy.</a:t>
            </a:r>
            <a:endParaRPr lang="en-US" sz="530" dirty="0"/>
          </a:p>
          <a:p>
            <a:r>
              <a:rPr lang="en-US" sz="53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Treatment duration frequently differed from the recommended duration after both hip and knee arthroplasty.</a:t>
            </a:r>
            <a:endParaRPr lang="en-US" sz="530" dirty="0"/>
          </a:p>
          <a:p>
            <a:r>
              <a:rPr lang="en-US" sz="53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Procedure-specific order sets, discharge medication reconciliation support, treatment-duration alerts, and targeted provider education may improve discharge prescription accuracy.</a:t>
            </a:r>
            <a:endParaRPr lang="en-US" sz="530" dirty="0"/>
          </a:p>
        </p:txBody>
      </p:sp>
      <p:sp>
        <p:nvSpPr>
          <p:cNvPr id="71" name="Text 65"/>
          <p:cNvSpPr/>
          <p:nvPr/>
        </p:nvSpPr>
        <p:spPr>
          <a:xfrm>
            <a:off x="7205472" y="4334256"/>
            <a:ext cx="1828800" cy="201168"/>
          </a:xfrm>
          <a:prstGeom prst="rect">
            <a:avLst/>
          </a:prstGeom>
          <a:solidFill>
            <a:srgbClr val="1F4E99"/>
          </a:solidFill>
          <a:ln w="6350">
            <a:solidFill>
              <a:srgbClr val="1F4E99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1150" dirty="0"/>
          </a:p>
        </p:txBody>
      </p:sp>
      <p:sp>
        <p:nvSpPr>
          <p:cNvPr id="72" name="Text 66"/>
          <p:cNvSpPr/>
          <p:nvPr/>
        </p:nvSpPr>
        <p:spPr>
          <a:xfrm>
            <a:off x="7242048" y="4562856"/>
            <a:ext cx="1755648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42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Eliquis (apixaban) prescribing information. 2025. 2. Lieberman JR, Heckmann N. J Am Acad Orthop Surg. 2017;25(12):789-798. 3. Muscatelli SR et al. Arthroplast Today. 2021;10:105-107.</a:t>
            </a:r>
            <a:endParaRPr lang="en-US" sz="420" dirty="0"/>
          </a:p>
        </p:txBody>
      </p:sp>
      <p:sp>
        <p:nvSpPr>
          <p:cNvPr id="73" name="Text 67"/>
          <p:cNvSpPr/>
          <p:nvPr/>
        </p:nvSpPr>
        <p:spPr>
          <a:xfrm>
            <a:off x="2697480" y="4892040"/>
            <a:ext cx="4069080" cy="91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42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values are reported as median (IQR) or n (%) unless otherwise noted.</a:t>
            </a:r>
            <a:endParaRPr lang="en-US" sz="4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Apixaban MUE Poster</dc:title>
  <dc:subject>ASHP poster</dc:subject>
  <dc:creator>OpenAI</dc:creator>
  <cp:lastModifiedBy>OpenAI</cp:lastModifiedBy>
  <cp:revision>1</cp:revision>
  <dcterms:created xsi:type="dcterms:W3CDTF">2026-08-24T17:53:24Z</dcterms:created>
  <dcterms:modified xsi:type="dcterms:W3CDTF">2026-08-24T17:53:24Z</dcterms:modified>
</cp:coreProperties>
</file>